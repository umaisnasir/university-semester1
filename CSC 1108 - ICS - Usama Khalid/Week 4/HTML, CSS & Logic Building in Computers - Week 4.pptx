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6"/>
  </p:notesMasterIdLst>
  <p:sldIdLst>
    <p:sldId id="256" r:id="rId2"/>
    <p:sldId id="298" r:id="rId3"/>
    <p:sldId id="299" r:id="rId4"/>
    <p:sldId id="300" r:id="rId5"/>
    <p:sldId id="301" r:id="rId6"/>
    <p:sldId id="302" r:id="rId7"/>
    <p:sldId id="303" r:id="rId8"/>
    <p:sldId id="304" r:id="rId9"/>
    <p:sldId id="305" r:id="rId10"/>
    <p:sldId id="306" r:id="rId11"/>
    <p:sldId id="307" r:id="rId12"/>
    <p:sldId id="308" r:id="rId13"/>
    <p:sldId id="309"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Lst>
  <p:sldSz cx="12192000" cy="6858000"/>
  <p:notesSz cx="6858000" cy="9144000"/>
  <p:embeddedFontLst>
    <p:embeddedFont>
      <p:font typeface="Bodoni" panose="020B0604020202020204" charset="0"/>
      <p:regular r:id="rId57"/>
      <p:bold r:id="rId58"/>
      <p:italic r:id="rId59"/>
      <p:boldItalic r:id="rId60"/>
    </p:embeddedFont>
    <p:embeddedFont>
      <p:font typeface="Consolas" panose="020B0609020204030204" pitchFamily="49"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jV5GH2N81uqg16yo3obJmA3qSLI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7.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61"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2"/>
          <p:cNvSpPr>
            <a:spLocks noGrp="1"/>
          </p:cNvSpPr>
          <p:nvPr>
            <p:ph type="pic" idx="2"/>
          </p:nvPr>
        </p:nvSpPr>
        <p:spPr>
          <a:xfrm>
            <a:off x="5183188" y="987425"/>
            <a:ext cx="6172200" cy="4873625"/>
          </a:xfrm>
          <a:prstGeom prst="rect">
            <a:avLst/>
          </a:prstGeom>
          <a:noFill/>
          <a:ln>
            <a:noFill/>
          </a:ln>
        </p:spPr>
      </p:sp>
      <p:sp>
        <p:nvSpPr>
          <p:cNvPr id="68" name="Google Shape;68;p5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Bodoni"/>
              <a:buNone/>
            </a:pPr>
            <a:r>
              <a:rPr lang="en-US" b="1" dirty="0">
                <a:latin typeface="Bodoni"/>
                <a:ea typeface="Bodoni"/>
                <a:cs typeface="Bodoni"/>
                <a:sym typeface="Bodoni"/>
              </a:rPr>
              <a:t>Introduction to Computing</a:t>
            </a:r>
            <a:br>
              <a:rPr lang="en-US" b="1" dirty="0">
                <a:latin typeface="Bodoni"/>
                <a:ea typeface="Bodoni"/>
                <a:cs typeface="Bodoni"/>
                <a:sym typeface="Bodoni"/>
              </a:rPr>
            </a:br>
            <a:r>
              <a:rPr lang="en-US" b="1" dirty="0">
                <a:latin typeface="Bodoni"/>
                <a:ea typeface="Bodoni"/>
                <a:cs typeface="Bodoni"/>
                <a:sym typeface="Bodoni"/>
              </a:rPr>
              <a:t>CSC 1108</a:t>
            </a:r>
            <a:endParaRPr b="1" dirty="0">
              <a:latin typeface="Bodoni"/>
              <a:ea typeface="Bodoni"/>
              <a:cs typeface="Bodoni"/>
              <a:sym typeface="Bodoni"/>
            </a:endParaRPr>
          </a:p>
        </p:txBody>
      </p:sp>
      <p:sp>
        <p:nvSpPr>
          <p:cNvPr id="89" name="Google Shape;8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i="1" dirty="0">
              <a:solidFill>
                <a:srgbClr val="0070C0"/>
              </a:solidFill>
              <a:latin typeface="Bodoni"/>
              <a:ea typeface="Bodoni"/>
              <a:cs typeface="Bodoni"/>
              <a:sym typeface="Bodoni"/>
            </a:endParaRPr>
          </a:p>
          <a:p>
            <a:pPr marL="0" lvl="0" indent="0" algn="ctr" rtl="0">
              <a:lnSpc>
                <a:spcPct val="90000"/>
              </a:lnSpc>
              <a:spcBef>
                <a:spcPts val="1000"/>
              </a:spcBef>
              <a:spcAft>
                <a:spcPts val="0"/>
              </a:spcAft>
              <a:buClr>
                <a:schemeClr val="dk1"/>
              </a:buClr>
              <a:buSzPts val="2400"/>
              <a:buNone/>
            </a:pPr>
            <a:r>
              <a:rPr lang="en-US" i="1" dirty="0">
                <a:latin typeface="Bodoni"/>
                <a:ea typeface="Bodoni"/>
                <a:cs typeface="Bodoni"/>
                <a:sym typeface="Bodoni"/>
              </a:rPr>
              <a:t>“HTML, CSS &amp; Logic Building in Computers” </a:t>
            </a:r>
            <a:endParaRPr i="1" dirty="0">
              <a:latin typeface="Bodoni"/>
              <a:ea typeface="Bodoni"/>
              <a:cs typeface="Bodoni"/>
              <a:sym typeface="Bodoni"/>
            </a:endParaRPr>
          </a:p>
          <a:p>
            <a:pPr marL="0" lvl="0" indent="0" algn="r" rtl="0">
              <a:lnSpc>
                <a:spcPct val="90000"/>
              </a:lnSpc>
              <a:spcBef>
                <a:spcPts val="1000"/>
              </a:spcBef>
              <a:spcAft>
                <a:spcPts val="0"/>
              </a:spcAft>
              <a:buClr>
                <a:schemeClr val="dk1"/>
              </a:buClr>
              <a:buSzPts val="2400"/>
              <a:buNone/>
            </a:pPr>
            <a:r>
              <a:rPr lang="en-US" i="1" dirty="0">
                <a:latin typeface="Bodoni"/>
                <a:ea typeface="Bodoni"/>
                <a:cs typeface="Bodoni"/>
                <a:sym typeface="Bodoni"/>
              </a:rPr>
              <a:t>Week 4</a:t>
            </a:r>
            <a:endParaRPr dirty="0"/>
          </a:p>
          <a:p>
            <a:pPr marL="0" lvl="0" indent="0" algn="ctr" rtl="0">
              <a:lnSpc>
                <a:spcPct val="90000"/>
              </a:lnSpc>
              <a:spcBef>
                <a:spcPts val="1000"/>
              </a:spcBef>
              <a:spcAft>
                <a:spcPts val="0"/>
              </a:spcAft>
              <a:buClr>
                <a:schemeClr val="dk1"/>
              </a:buClr>
              <a:buSzPts val="2400"/>
              <a:buNone/>
            </a:pPr>
            <a:endParaRPr i="1" dirty="0">
              <a:solidFill>
                <a:srgbClr val="0070C0"/>
              </a:solidFill>
              <a:latin typeface="Bodoni"/>
              <a:ea typeface="Bodoni"/>
              <a:cs typeface="Bodoni"/>
              <a:sym typeface="Bodoni"/>
            </a:endParaRPr>
          </a:p>
        </p:txBody>
      </p:sp>
      <p:sp>
        <p:nvSpPr>
          <p:cNvPr id="90" name="Google Shape;90;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91" name="Google Shape;9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1F8C1-EFA5-E072-E025-263ABD6D3601}"/>
              </a:ext>
            </a:extLst>
          </p:cNvPr>
          <p:cNvSpPr>
            <a:spLocks noGrp="1"/>
          </p:cNvSpPr>
          <p:nvPr>
            <p:ph type="title"/>
          </p:nvPr>
        </p:nvSpPr>
        <p:spPr/>
        <p:txBody>
          <a:bodyPr/>
          <a:lstStyle/>
          <a:p>
            <a:r>
              <a:rPr lang="en-PK" dirty="0"/>
              <a:t>Recap</a:t>
            </a:r>
            <a:endParaRPr lang="en-US" dirty="0"/>
          </a:p>
        </p:txBody>
      </p:sp>
      <p:sp>
        <p:nvSpPr>
          <p:cNvPr id="3" name="Text Placeholder 2">
            <a:extLst>
              <a:ext uri="{FF2B5EF4-FFF2-40B4-BE49-F238E27FC236}">
                <a16:creationId xmlns:a16="http://schemas.microsoft.com/office/drawing/2014/main" id="{EF11BE15-594E-050A-792B-B407F5F3AEF8}"/>
              </a:ext>
            </a:extLst>
          </p:cNvPr>
          <p:cNvSpPr>
            <a:spLocks noGrp="1"/>
          </p:cNvSpPr>
          <p:nvPr>
            <p:ph type="body" idx="1"/>
          </p:nvPr>
        </p:nvSpPr>
        <p:spPr/>
        <p:txBody>
          <a:bodyPr/>
          <a:lstStyle/>
          <a:p>
            <a:r>
              <a:rPr lang="en-PK" dirty="0"/>
              <a:t>Web Design Vs Web Development</a:t>
            </a:r>
          </a:p>
          <a:p>
            <a:r>
              <a:rPr lang="en-PK" dirty="0"/>
              <a:t>What is Web Designing </a:t>
            </a:r>
          </a:p>
          <a:p>
            <a:r>
              <a:rPr lang="en-PK" dirty="0"/>
              <a:t>What is Web Development</a:t>
            </a:r>
          </a:p>
          <a:p>
            <a:r>
              <a:rPr lang="en-PK" dirty="0"/>
              <a:t>Roadmap</a:t>
            </a:r>
          </a:p>
          <a:p>
            <a:r>
              <a:rPr lang="en-PK" dirty="0"/>
              <a:t>Frameworks</a:t>
            </a:r>
          </a:p>
          <a:p>
            <a:r>
              <a:rPr lang="en-PK" dirty="0"/>
              <a:t>Quick Refresh – HTML</a:t>
            </a:r>
            <a:endParaRPr lang="en-US" dirty="0"/>
          </a:p>
          <a:p>
            <a:r>
              <a:rPr lang="en-US" dirty="0"/>
              <a:t>Number Conversions</a:t>
            </a:r>
            <a:endParaRPr lang="en-PK" dirty="0"/>
          </a:p>
          <a:p>
            <a:pPr marL="0" indent="0">
              <a:buNone/>
            </a:pPr>
            <a:endParaRPr lang="en-PK" dirty="0"/>
          </a:p>
          <a:p>
            <a:endParaRPr lang="en-US" dirty="0"/>
          </a:p>
        </p:txBody>
      </p:sp>
      <p:sp>
        <p:nvSpPr>
          <p:cNvPr id="4" name="Slide Number Placeholder 3">
            <a:extLst>
              <a:ext uri="{FF2B5EF4-FFF2-40B4-BE49-F238E27FC236}">
                <a16:creationId xmlns:a16="http://schemas.microsoft.com/office/drawing/2014/main" id="{43F441BC-93EC-3979-3CE8-08953FAB33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2204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345C0-021B-6F6B-1998-EF8FFA8AA035}"/>
              </a:ext>
            </a:extLst>
          </p:cNvPr>
          <p:cNvSpPr>
            <a:spLocks noGrp="1"/>
          </p:cNvSpPr>
          <p:nvPr>
            <p:ph type="title"/>
          </p:nvPr>
        </p:nvSpPr>
        <p:spPr/>
        <p:txBody>
          <a:bodyPr/>
          <a:lstStyle/>
          <a:p>
            <a:r>
              <a:rPr lang="en-PK" dirty="0"/>
              <a:t>Content</a:t>
            </a:r>
            <a:endParaRPr lang="en-US" dirty="0"/>
          </a:p>
        </p:txBody>
      </p:sp>
      <p:sp>
        <p:nvSpPr>
          <p:cNvPr id="3" name="Text Placeholder 2">
            <a:extLst>
              <a:ext uri="{FF2B5EF4-FFF2-40B4-BE49-F238E27FC236}">
                <a16:creationId xmlns:a16="http://schemas.microsoft.com/office/drawing/2014/main" id="{FB620EF0-CA79-8EC5-3511-23CD91F41958}"/>
              </a:ext>
            </a:extLst>
          </p:cNvPr>
          <p:cNvSpPr>
            <a:spLocks noGrp="1"/>
          </p:cNvSpPr>
          <p:nvPr>
            <p:ph type="body" idx="1"/>
          </p:nvPr>
        </p:nvSpPr>
        <p:spPr/>
        <p:txBody>
          <a:bodyPr/>
          <a:lstStyle/>
          <a:p>
            <a:r>
              <a:rPr lang="en-PK" dirty="0"/>
              <a:t>HTML Attributes</a:t>
            </a:r>
          </a:p>
          <a:p>
            <a:r>
              <a:rPr lang="en-PK" dirty="0"/>
              <a:t>What is Web Designing </a:t>
            </a:r>
          </a:p>
          <a:p>
            <a:r>
              <a:rPr lang="en-PK" dirty="0"/>
              <a:t>What is Web Development</a:t>
            </a:r>
          </a:p>
          <a:p>
            <a:r>
              <a:rPr lang="en-PK" dirty="0"/>
              <a:t>Roadmap</a:t>
            </a:r>
          </a:p>
          <a:p>
            <a:r>
              <a:rPr lang="en-PK" dirty="0"/>
              <a:t>Framworks</a:t>
            </a:r>
          </a:p>
        </p:txBody>
      </p:sp>
      <p:sp>
        <p:nvSpPr>
          <p:cNvPr id="4" name="Slide Number Placeholder 3">
            <a:extLst>
              <a:ext uri="{FF2B5EF4-FFF2-40B4-BE49-F238E27FC236}">
                <a16:creationId xmlns:a16="http://schemas.microsoft.com/office/drawing/2014/main" id="{18336C9F-1377-0F3F-0BB0-CA455DC190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3409857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ADD28-2568-EEB6-B5DE-EF4C1C785E00}"/>
              </a:ext>
            </a:extLst>
          </p:cNvPr>
          <p:cNvSpPr>
            <a:spLocks noGrp="1"/>
          </p:cNvSpPr>
          <p:nvPr>
            <p:ph type="title"/>
          </p:nvPr>
        </p:nvSpPr>
        <p:spPr/>
        <p:txBody>
          <a:bodyPr/>
          <a:lstStyle/>
          <a:p>
            <a:r>
              <a:rPr lang="en-PK" dirty="0"/>
              <a:t>HTML Attributes</a:t>
            </a:r>
            <a:endParaRPr lang="en-US" dirty="0"/>
          </a:p>
        </p:txBody>
      </p:sp>
      <p:sp>
        <p:nvSpPr>
          <p:cNvPr id="3" name="Text Placeholder 2">
            <a:extLst>
              <a:ext uri="{FF2B5EF4-FFF2-40B4-BE49-F238E27FC236}">
                <a16:creationId xmlns:a16="http://schemas.microsoft.com/office/drawing/2014/main" id="{E41904CC-CA73-D18E-DC25-58437687D567}"/>
              </a:ext>
            </a:extLst>
          </p:cNvPr>
          <p:cNvSpPr>
            <a:spLocks noGrp="1"/>
          </p:cNvSpPr>
          <p:nvPr>
            <p:ph type="body" idx="1"/>
          </p:nvPr>
        </p:nvSpPr>
        <p:spPr>
          <a:xfrm>
            <a:off x="838200" y="1825625"/>
            <a:ext cx="10515600" cy="4895850"/>
          </a:xfrm>
        </p:spPr>
        <p:txBody>
          <a:bodyPr/>
          <a:lstStyle/>
          <a:p>
            <a:r>
              <a:rPr lang="en-PK" dirty="0"/>
              <a:t>Provi</a:t>
            </a:r>
            <a:r>
              <a:rPr lang="en-GB" dirty="0"/>
              <a:t>de</a:t>
            </a:r>
            <a:r>
              <a:rPr lang="en-PK" dirty="0"/>
              <a:t> additional information to HTML elements</a:t>
            </a:r>
          </a:p>
          <a:p>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a</a:t>
            </a:r>
            <a:r>
              <a:rPr lang="en-GB" dirty="0">
                <a:solidFill>
                  <a:srgbClr val="FF0000"/>
                </a:solidFill>
                <a:latin typeface="Consolas" panose="020B0609020204030204" pitchFamily="49" charset="0"/>
              </a:rPr>
              <a:t> </a:t>
            </a:r>
            <a:r>
              <a:rPr lang="en-GB" dirty="0" err="1">
                <a:solidFill>
                  <a:srgbClr val="FF0000"/>
                </a:solidFill>
                <a:latin typeface="Consolas" panose="020B0609020204030204" pitchFamily="49" charset="0"/>
              </a:rPr>
              <a:t>href</a:t>
            </a:r>
            <a:r>
              <a:rPr lang="en-GB" dirty="0">
                <a:solidFill>
                  <a:srgbClr val="0000CD"/>
                </a:solidFill>
                <a:latin typeface="Consolas" panose="020B0609020204030204" pitchFamily="49" charset="0"/>
              </a:rPr>
              <a:t>="https://www.google.com"&gt;</a:t>
            </a:r>
            <a:r>
              <a:rPr lang="en-GB" dirty="0">
                <a:solidFill>
                  <a:srgbClr val="000000"/>
                </a:solidFill>
                <a:latin typeface="Consolas" panose="020B0609020204030204" pitchFamily="49" charset="0"/>
              </a:rPr>
              <a:t>Hello to Web Programming Class</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/a</a:t>
            </a:r>
            <a:r>
              <a:rPr lang="en-GB" dirty="0">
                <a:solidFill>
                  <a:srgbClr val="0000CD"/>
                </a:solidFill>
                <a:latin typeface="Consolas" panose="020B0609020204030204" pitchFamily="49" charset="0"/>
              </a:rPr>
              <a:t>&gt;</a:t>
            </a:r>
          </a:p>
          <a:p>
            <a:r>
              <a:rPr lang="en-GB" dirty="0">
                <a:solidFill>
                  <a:srgbClr val="0000CD"/>
                </a:solidFill>
                <a:latin typeface="Consolas" panose="020B0609020204030204" pitchFamily="49" charset="0"/>
              </a:rPr>
              <a:t>&lt;</a:t>
            </a:r>
            <a:r>
              <a:rPr lang="en-GB" dirty="0" err="1">
                <a:solidFill>
                  <a:srgbClr val="A52A2A"/>
                </a:solidFill>
                <a:latin typeface="Consolas" panose="020B0609020204030204" pitchFamily="49" charset="0"/>
              </a:rPr>
              <a:t>img</a:t>
            </a:r>
            <a:r>
              <a:rPr lang="en-GB" dirty="0">
                <a:solidFill>
                  <a:srgbClr val="FF0000"/>
                </a:solidFill>
                <a:latin typeface="Consolas" panose="020B0609020204030204" pitchFamily="49" charset="0"/>
              </a:rPr>
              <a:t> </a:t>
            </a:r>
            <a:r>
              <a:rPr lang="en-GB" dirty="0" err="1">
                <a:solidFill>
                  <a:srgbClr val="FF0000"/>
                </a:solidFill>
                <a:latin typeface="Consolas" panose="020B0609020204030204" pitchFamily="49" charset="0"/>
              </a:rPr>
              <a:t>src</a:t>
            </a:r>
            <a:r>
              <a:rPr lang="en-GB" dirty="0">
                <a:solidFill>
                  <a:srgbClr val="0000CD"/>
                </a:solidFill>
                <a:latin typeface="Consolas" panose="020B0609020204030204" pitchFamily="49" charset="0"/>
              </a:rPr>
              <a:t>="img.jpg"</a:t>
            </a:r>
            <a:r>
              <a:rPr lang="en-GB" dirty="0">
                <a:solidFill>
                  <a:srgbClr val="FF0000"/>
                </a:solidFill>
                <a:latin typeface="Consolas" panose="020B0609020204030204" pitchFamily="49" charset="0"/>
              </a:rPr>
              <a:t> width</a:t>
            </a:r>
            <a:r>
              <a:rPr lang="en-GB" dirty="0">
                <a:solidFill>
                  <a:srgbClr val="0000CD"/>
                </a:solidFill>
                <a:latin typeface="Consolas" panose="020B0609020204030204" pitchFamily="49" charset="0"/>
              </a:rPr>
              <a:t>="500"</a:t>
            </a:r>
            <a:r>
              <a:rPr lang="en-GB" dirty="0">
                <a:solidFill>
                  <a:srgbClr val="FF0000"/>
                </a:solidFill>
                <a:latin typeface="Consolas" panose="020B0609020204030204" pitchFamily="49" charset="0"/>
              </a:rPr>
              <a:t> height</a:t>
            </a:r>
            <a:r>
              <a:rPr lang="en-GB" dirty="0">
                <a:solidFill>
                  <a:srgbClr val="0000CD"/>
                </a:solidFill>
                <a:latin typeface="Consolas" panose="020B0609020204030204" pitchFamily="49" charset="0"/>
              </a:rPr>
              <a:t>="600"&gt;</a:t>
            </a:r>
          </a:p>
          <a:p>
            <a:r>
              <a:rPr lang="en-GB" dirty="0">
                <a:solidFill>
                  <a:srgbClr val="A52A2A"/>
                </a:solidFill>
                <a:latin typeface="Consolas" panose="020B0609020204030204" pitchFamily="49" charset="0"/>
              </a:rPr>
              <a:t>&lt;</a:t>
            </a:r>
            <a:r>
              <a:rPr lang="en-GB" dirty="0" err="1">
                <a:solidFill>
                  <a:srgbClr val="A52A2A"/>
                </a:solidFill>
                <a:latin typeface="Consolas" panose="020B0609020204030204" pitchFamily="49" charset="0"/>
              </a:rPr>
              <a:t>img</a:t>
            </a:r>
            <a:r>
              <a:rPr lang="en-GB" dirty="0">
                <a:solidFill>
                  <a:srgbClr val="FF0000"/>
                </a:solidFill>
                <a:latin typeface="Consolas" panose="020B0609020204030204" pitchFamily="49" charset="0"/>
              </a:rPr>
              <a:t> </a:t>
            </a:r>
            <a:r>
              <a:rPr lang="en-GB" dirty="0" err="1">
                <a:solidFill>
                  <a:srgbClr val="FF0000"/>
                </a:solidFill>
                <a:latin typeface="Consolas" panose="020B0609020204030204" pitchFamily="49" charset="0"/>
              </a:rPr>
              <a:t>src</a:t>
            </a:r>
            <a:r>
              <a:rPr lang="en-GB" dirty="0">
                <a:solidFill>
                  <a:srgbClr val="0000CD"/>
                </a:solidFill>
                <a:latin typeface="Consolas" panose="020B0609020204030204" pitchFamily="49" charset="0"/>
              </a:rPr>
              <a:t>="img.jpg"</a:t>
            </a:r>
            <a:r>
              <a:rPr lang="en-GB" dirty="0">
                <a:solidFill>
                  <a:srgbClr val="FF0000"/>
                </a:solidFill>
                <a:latin typeface="Consolas" panose="020B0609020204030204" pitchFamily="49" charset="0"/>
              </a:rPr>
              <a:t> alt</a:t>
            </a:r>
            <a:r>
              <a:rPr lang="en-GB" dirty="0">
                <a:solidFill>
                  <a:srgbClr val="0000CD"/>
                </a:solidFill>
                <a:latin typeface="Consolas" panose="020B0609020204030204" pitchFamily="49" charset="0"/>
              </a:rPr>
              <a:t>= “Loving this class"&gt;</a:t>
            </a:r>
          </a:p>
          <a:p>
            <a:endParaRPr lang="en-GB" dirty="0">
              <a:solidFill>
                <a:srgbClr val="0000CD"/>
              </a:solidFill>
              <a:latin typeface="Consolas" panose="020B0609020204030204" pitchFamily="49" charset="0"/>
            </a:endParaRPr>
          </a:p>
          <a:p>
            <a:pPr marL="0" indent="0">
              <a:buNone/>
            </a:pPr>
            <a:r>
              <a:rPr lang="en-GB" b="1" dirty="0">
                <a:solidFill>
                  <a:schemeClr val="tx1"/>
                </a:solidFill>
                <a:latin typeface="Consolas" panose="020B0609020204030204" pitchFamily="49" charset="0"/>
              </a:rPr>
              <a:t>Style Attributes</a:t>
            </a:r>
          </a:p>
          <a:p>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a:t>
            </a:r>
            <a:r>
              <a:rPr lang="en-GB" dirty="0" err="1">
                <a:solidFill>
                  <a:srgbClr val="0000CD"/>
                </a:solidFill>
                <a:latin typeface="Consolas" panose="020B0609020204030204" pitchFamily="49" charset="0"/>
              </a:rPr>
              <a:t>color:red</a:t>
            </a:r>
            <a:r>
              <a:rPr lang="en-GB" dirty="0">
                <a:solidFill>
                  <a:srgbClr val="0000CD"/>
                </a:solidFill>
                <a:latin typeface="Consolas" panose="020B0609020204030204" pitchFamily="49" charset="0"/>
              </a:rPr>
              <a:t>;"&gt;</a:t>
            </a:r>
            <a:r>
              <a:rPr lang="en-GB" dirty="0">
                <a:solidFill>
                  <a:srgbClr val="000000"/>
                </a:solidFill>
                <a:latin typeface="Consolas" panose="020B0609020204030204" pitchFamily="49" charset="0"/>
              </a:rPr>
              <a:t>This is a red paragraph.</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0000CD"/>
                </a:solidFill>
                <a:latin typeface="Consolas" panose="020B0609020204030204" pitchFamily="49" charset="0"/>
              </a:rPr>
              <a:t>&gt;</a:t>
            </a:r>
            <a:endParaRPr lang="en-PK" dirty="0"/>
          </a:p>
          <a:p>
            <a:endParaRPr lang="en-PK" dirty="0"/>
          </a:p>
        </p:txBody>
      </p:sp>
      <p:sp>
        <p:nvSpPr>
          <p:cNvPr id="4" name="Slide Number Placeholder 3">
            <a:extLst>
              <a:ext uri="{FF2B5EF4-FFF2-40B4-BE49-F238E27FC236}">
                <a16:creationId xmlns:a16="http://schemas.microsoft.com/office/drawing/2014/main" id="{B7F2F9D7-FAA5-7C1E-877C-BF83087776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76336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DDD39-5786-9C3E-16C5-DE0892DC9164}"/>
              </a:ext>
            </a:extLst>
          </p:cNvPr>
          <p:cNvSpPr>
            <a:spLocks noGrp="1"/>
          </p:cNvSpPr>
          <p:nvPr>
            <p:ph type="title"/>
          </p:nvPr>
        </p:nvSpPr>
        <p:spPr/>
        <p:txBody>
          <a:bodyPr/>
          <a:lstStyle/>
          <a:p>
            <a:r>
              <a:rPr lang="en-PK" dirty="0"/>
              <a:t>HTML Styling</a:t>
            </a:r>
            <a:endParaRPr lang="en-US" dirty="0"/>
          </a:p>
        </p:txBody>
      </p:sp>
      <p:sp>
        <p:nvSpPr>
          <p:cNvPr id="3" name="Text Placeholder 2">
            <a:extLst>
              <a:ext uri="{FF2B5EF4-FFF2-40B4-BE49-F238E27FC236}">
                <a16:creationId xmlns:a16="http://schemas.microsoft.com/office/drawing/2014/main" id="{C4FFACE2-0973-485B-2B9F-9B6C5B831F6E}"/>
              </a:ext>
            </a:extLst>
          </p:cNvPr>
          <p:cNvSpPr>
            <a:spLocks noGrp="1"/>
          </p:cNvSpPr>
          <p:nvPr>
            <p:ph type="body" idx="1"/>
          </p:nvPr>
        </p:nvSpPr>
        <p:spPr>
          <a:xfrm>
            <a:off x="838200" y="1825624"/>
            <a:ext cx="10515600" cy="5032375"/>
          </a:xfrm>
        </p:spPr>
        <p:txBody>
          <a:bodyPr>
            <a:normAutofit fontScale="92500" lnSpcReduction="20000"/>
          </a:bodyPr>
          <a:lstStyle/>
          <a:p>
            <a:r>
              <a:rPr lang="en-GB" dirty="0">
                <a:solidFill>
                  <a:schemeClr val="tx1"/>
                </a:solidFill>
                <a:latin typeface="Consolas" panose="020B0609020204030204" pitchFamily="49" charset="0"/>
              </a:rPr>
              <a:t>Background </a:t>
            </a:r>
            <a:r>
              <a:rPr lang="en-GB" dirty="0" err="1">
                <a:solidFill>
                  <a:schemeClr val="tx1"/>
                </a:solidFill>
                <a:latin typeface="Consolas" panose="020B0609020204030204" pitchFamily="49" charset="0"/>
              </a:rPr>
              <a:t>Color</a:t>
            </a:r>
            <a:endParaRPr lang="en-GB" dirty="0">
              <a:solidFill>
                <a:schemeClr val="tx1"/>
              </a:solidFill>
              <a:latin typeface="Consolas" panose="020B0609020204030204" pitchFamily="49" charset="0"/>
            </a:endParaRPr>
          </a:p>
          <a:p>
            <a:pPr lvl="1"/>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body</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a:t>
            </a:r>
            <a:r>
              <a:rPr lang="en-GB" dirty="0" err="1">
                <a:solidFill>
                  <a:srgbClr val="0000CD"/>
                </a:solidFill>
                <a:latin typeface="Consolas" panose="020B0609020204030204" pitchFamily="49" charset="0"/>
              </a:rPr>
              <a:t>background-color:powderblue</a:t>
            </a:r>
            <a:r>
              <a:rPr lang="en-GB" dirty="0">
                <a:solidFill>
                  <a:srgbClr val="0000CD"/>
                </a:solidFill>
                <a:latin typeface="Consolas" panose="020B0609020204030204" pitchFamily="49" charset="0"/>
              </a:rPr>
              <a:t>;"&gt;</a:t>
            </a:r>
          </a:p>
          <a:p>
            <a:pPr lvl="1"/>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body</a:t>
            </a:r>
            <a:r>
              <a:rPr lang="en-GB" dirty="0">
                <a:solidFill>
                  <a:srgbClr val="0000CD"/>
                </a:solidFill>
                <a:latin typeface="Consolas" panose="020B0609020204030204" pitchFamily="49" charset="0"/>
              </a:rPr>
              <a:t>&gt;</a:t>
            </a:r>
            <a:br>
              <a:rPr lang="en-GB" dirty="0"/>
            </a:br>
            <a:br>
              <a:rPr lang="en-GB" dirty="0"/>
            </a:b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h1</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a:t>
            </a:r>
            <a:r>
              <a:rPr lang="en-GB" dirty="0" err="1">
                <a:solidFill>
                  <a:srgbClr val="0000CD"/>
                </a:solidFill>
                <a:latin typeface="Consolas" panose="020B0609020204030204" pitchFamily="49" charset="0"/>
              </a:rPr>
              <a:t>background-color:green</a:t>
            </a:r>
            <a:r>
              <a:rPr lang="en-GB" dirty="0">
                <a:solidFill>
                  <a:srgbClr val="0000CD"/>
                </a:solidFill>
                <a:latin typeface="Consolas" panose="020B0609020204030204" pitchFamily="49" charset="0"/>
              </a:rPr>
              <a:t>;"&gt;</a:t>
            </a:r>
            <a:r>
              <a:rPr lang="en-GB" dirty="0">
                <a:solidFill>
                  <a:srgbClr val="000000"/>
                </a:solidFill>
                <a:latin typeface="Consolas" panose="020B0609020204030204" pitchFamily="49" charset="0"/>
              </a:rPr>
              <a:t>This is a heading</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/h1</a:t>
            </a:r>
            <a:r>
              <a:rPr lang="en-GB" dirty="0">
                <a:solidFill>
                  <a:srgbClr val="0000CD"/>
                </a:solidFill>
                <a:latin typeface="Consolas" panose="020B0609020204030204" pitchFamily="49" charset="0"/>
              </a:rPr>
              <a:t>&gt;</a:t>
            </a:r>
            <a:br>
              <a:rPr lang="en-GB" dirty="0"/>
            </a:b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a:t>
            </a:r>
            <a:r>
              <a:rPr lang="en-GB" dirty="0" err="1">
                <a:solidFill>
                  <a:srgbClr val="0000CD"/>
                </a:solidFill>
                <a:latin typeface="Consolas" panose="020B0609020204030204" pitchFamily="49" charset="0"/>
              </a:rPr>
              <a:t>background-color:red</a:t>
            </a:r>
            <a:r>
              <a:rPr lang="en-GB" dirty="0">
                <a:solidFill>
                  <a:srgbClr val="0000CD"/>
                </a:solidFill>
                <a:latin typeface="Consolas" panose="020B0609020204030204" pitchFamily="49" charset="0"/>
              </a:rPr>
              <a:t>;"&gt;</a:t>
            </a:r>
            <a:r>
              <a:rPr lang="en-GB" dirty="0">
                <a:solidFill>
                  <a:srgbClr val="000000"/>
                </a:solidFill>
                <a:latin typeface="Consolas" panose="020B0609020204030204" pitchFamily="49" charset="0"/>
              </a:rPr>
              <a:t>This is a paragraph.</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0000CD"/>
                </a:solidFill>
                <a:latin typeface="Consolas" panose="020B0609020204030204" pitchFamily="49" charset="0"/>
              </a:rPr>
              <a:t>&gt;</a:t>
            </a:r>
            <a:br>
              <a:rPr lang="en-GB" dirty="0"/>
            </a:br>
            <a:br>
              <a:rPr lang="en-GB" dirty="0"/>
            </a:b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/body</a:t>
            </a:r>
            <a:r>
              <a:rPr lang="en-GB" dirty="0">
                <a:solidFill>
                  <a:srgbClr val="0000CD"/>
                </a:solidFill>
                <a:latin typeface="Consolas" panose="020B0609020204030204" pitchFamily="49" charset="0"/>
              </a:rPr>
              <a:t>&gt;</a:t>
            </a:r>
          </a:p>
          <a:p>
            <a:r>
              <a:rPr lang="en-GB" dirty="0">
                <a:solidFill>
                  <a:schemeClr val="tx1"/>
                </a:solidFill>
                <a:latin typeface="Consolas" panose="020B0609020204030204" pitchFamily="49" charset="0"/>
              </a:rPr>
              <a:t>Text Colour : </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a:t>
            </a:r>
            <a:r>
              <a:rPr lang="en-GB" dirty="0" err="1">
                <a:solidFill>
                  <a:srgbClr val="0000CD"/>
                </a:solidFill>
                <a:latin typeface="Consolas" panose="020B0609020204030204" pitchFamily="49" charset="0"/>
              </a:rPr>
              <a:t>color:red</a:t>
            </a:r>
            <a:r>
              <a:rPr lang="en-GB" dirty="0">
                <a:solidFill>
                  <a:srgbClr val="0000CD"/>
                </a:solidFill>
                <a:latin typeface="Consolas" panose="020B0609020204030204" pitchFamily="49" charset="0"/>
              </a:rPr>
              <a:t>;"&gt;</a:t>
            </a:r>
            <a:r>
              <a:rPr lang="en-GB" dirty="0">
                <a:solidFill>
                  <a:srgbClr val="000000"/>
                </a:solidFill>
                <a:latin typeface="Consolas" panose="020B0609020204030204" pitchFamily="49" charset="0"/>
              </a:rPr>
              <a:t>This is a paragraph.</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0000CD"/>
                </a:solidFill>
                <a:latin typeface="Consolas" panose="020B0609020204030204" pitchFamily="49" charset="0"/>
              </a:rPr>
              <a:t>&gt;</a:t>
            </a:r>
          </a:p>
          <a:p>
            <a:r>
              <a:rPr lang="en-GB" dirty="0">
                <a:solidFill>
                  <a:schemeClr val="tx1"/>
                </a:solidFill>
                <a:latin typeface="Consolas" panose="020B0609020204030204" pitchFamily="49" charset="0"/>
              </a:rPr>
              <a:t>Fonts: </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a:t>
            </a:r>
            <a:r>
              <a:rPr lang="en-GB" dirty="0" err="1">
                <a:solidFill>
                  <a:srgbClr val="0000CD"/>
                </a:solidFill>
                <a:latin typeface="Consolas" panose="020B0609020204030204" pitchFamily="49" charset="0"/>
              </a:rPr>
              <a:t>font-family:courier</a:t>
            </a:r>
            <a:r>
              <a:rPr lang="en-GB" dirty="0">
                <a:solidFill>
                  <a:srgbClr val="0000CD"/>
                </a:solidFill>
                <a:latin typeface="Consolas" panose="020B0609020204030204" pitchFamily="49" charset="0"/>
              </a:rPr>
              <a:t>;"&gt;</a:t>
            </a:r>
            <a:r>
              <a:rPr lang="en-GB" dirty="0">
                <a:solidFill>
                  <a:srgbClr val="000000"/>
                </a:solidFill>
                <a:latin typeface="Consolas" panose="020B0609020204030204" pitchFamily="49" charset="0"/>
              </a:rPr>
              <a:t>This is a paragraph.</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0000CD"/>
                </a:solidFill>
                <a:latin typeface="Consolas" panose="020B0609020204030204" pitchFamily="49" charset="0"/>
              </a:rPr>
              <a:t>&gt;</a:t>
            </a:r>
          </a:p>
          <a:p>
            <a:r>
              <a:rPr lang="en-GB" dirty="0">
                <a:solidFill>
                  <a:schemeClr val="tx1"/>
                </a:solidFill>
                <a:latin typeface="Consolas" panose="020B0609020204030204" pitchFamily="49" charset="0"/>
              </a:rPr>
              <a:t>Font Size: </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="font-size:160%;"&gt;</a:t>
            </a:r>
            <a:r>
              <a:rPr lang="en-GB" dirty="0">
                <a:solidFill>
                  <a:srgbClr val="000000"/>
                </a:solidFill>
                <a:latin typeface="Consolas" panose="020B0609020204030204" pitchFamily="49" charset="0"/>
              </a:rPr>
              <a:t>This is a paragraph.</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0000CD"/>
                </a:solidFill>
                <a:latin typeface="Consolas" panose="020B0609020204030204" pitchFamily="49" charset="0"/>
              </a:rPr>
              <a:t>&gt;</a:t>
            </a:r>
          </a:p>
          <a:p>
            <a:r>
              <a:rPr lang="en-GB" dirty="0">
                <a:solidFill>
                  <a:schemeClr val="tx1"/>
                </a:solidFill>
                <a:latin typeface="Consolas" panose="020B0609020204030204" pitchFamily="49" charset="0"/>
              </a:rPr>
              <a:t>Font alignment</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a:t>
            </a:r>
            <a:r>
              <a:rPr lang="en-GB" dirty="0" err="1">
                <a:solidFill>
                  <a:srgbClr val="0000CD"/>
                </a:solidFill>
                <a:latin typeface="Consolas" panose="020B0609020204030204" pitchFamily="49" charset="0"/>
              </a:rPr>
              <a:t>text-align:center</a:t>
            </a:r>
            <a:r>
              <a:rPr lang="en-GB" dirty="0">
                <a:solidFill>
                  <a:srgbClr val="0000CD"/>
                </a:solidFill>
                <a:latin typeface="Consolas" panose="020B0609020204030204" pitchFamily="49" charset="0"/>
              </a:rPr>
              <a:t>;"&gt;</a:t>
            </a:r>
            <a:r>
              <a:rPr lang="en-GB" dirty="0" err="1">
                <a:solidFill>
                  <a:srgbClr val="000000"/>
                </a:solidFill>
                <a:latin typeface="Consolas" panose="020B0609020204030204" pitchFamily="49" charset="0"/>
              </a:rPr>
              <a:t>Centered</a:t>
            </a:r>
            <a:r>
              <a:rPr lang="en-GB" dirty="0">
                <a:solidFill>
                  <a:srgbClr val="000000"/>
                </a:solidFill>
                <a:latin typeface="Consolas" panose="020B0609020204030204" pitchFamily="49" charset="0"/>
              </a:rPr>
              <a:t> paragraph.</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/p</a:t>
            </a:r>
            <a:r>
              <a:rPr lang="en-GB" dirty="0">
                <a:solidFill>
                  <a:srgbClr val="0000CD"/>
                </a:solidFill>
                <a:latin typeface="Consolas" panose="020B0609020204030204" pitchFamily="49" charset="0"/>
              </a:rPr>
              <a:t>&gt;</a:t>
            </a:r>
          </a:p>
        </p:txBody>
      </p:sp>
      <p:sp>
        <p:nvSpPr>
          <p:cNvPr id="4" name="Slide Number Placeholder 3">
            <a:extLst>
              <a:ext uri="{FF2B5EF4-FFF2-40B4-BE49-F238E27FC236}">
                <a16:creationId xmlns:a16="http://schemas.microsoft.com/office/drawing/2014/main" id="{3A978870-E377-392F-2E53-65D211BBD8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054607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B0BD-D995-75A2-3719-A4AB4867F594}"/>
              </a:ext>
            </a:extLst>
          </p:cNvPr>
          <p:cNvSpPr>
            <a:spLocks noGrp="1"/>
          </p:cNvSpPr>
          <p:nvPr>
            <p:ph type="title"/>
          </p:nvPr>
        </p:nvSpPr>
        <p:spPr/>
        <p:txBody>
          <a:bodyPr/>
          <a:lstStyle/>
          <a:p>
            <a:r>
              <a:rPr lang="en-PK" dirty="0"/>
              <a:t>HTML Styling</a:t>
            </a:r>
            <a:endParaRPr lang="en-US" dirty="0"/>
          </a:p>
        </p:txBody>
      </p:sp>
      <p:sp>
        <p:nvSpPr>
          <p:cNvPr id="3" name="Text Placeholder 2">
            <a:extLst>
              <a:ext uri="{FF2B5EF4-FFF2-40B4-BE49-F238E27FC236}">
                <a16:creationId xmlns:a16="http://schemas.microsoft.com/office/drawing/2014/main" id="{79CDD30C-84EA-22DB-AA48-581D3686A00F}"/>
              </a:ext>
            </a:extLst>
          </p:cNvPr>
          <p:cNvSpPr>
            <a:spLocks noGrp="1"/>
          </p:cNvSpPr>
          <p:nvPr>
            <p:ph type="body" idx="1"/>
          </p:nvPr>
        </p:nvSpPr>
        <p:spPr>
          <a:xfrm>
            <a:off x="838200" y="1825625"/>
            <a:ext cx="10515600" cy="4895850"/>
          </a:xfrm>
        </p:spPr>
        <p:txBody>
          <a:bodyPr>
            <a:normAutofit fontScale="77500" lnSpcReduction="20000"/>
          </a:bodyPr>
          <a:lstStyle/>
          <a:p>
            <a:r>
              <a:rPr lang="en-GB" dirty="0">
                <a:solidFill>
                  <a:schemeClr val="tx1"/>
                </a:solidFill>
                <a:latin typeface="Consolas" panose="020B0609020204030204" pitchFamily="49" charset="0"/>
              </a:rPr>
              <a:t>Border </a:t>
            </a:r>
            <a:r>
              <a:rPr lang="en-GB" dirty="0" err="1">
                <a:solidFill>
                  <a:schemeClr val="tx1"/>
                </a:solidFill>
                <a:latin typeface="Consolas" panose="020B0609020204030204" pitchFamily="49" charset="0"/>
              </a:rPr>
              <a:t>Color</a:t>
            </a:r>
            <a:endParaRPr lang="en-GB" dirty="0">
              <a:solidFill>
                <a:schemeClr val="tx1"/>
              </a:solidFill>
              <a:latin typeface="Consolas" panose="020B0609020204030204" pitchFamily="49" charset="0"/>
            </a:endParaRPr>
          </a:p>
          <a:p>
            <a:pPr marL="457200" lvl="1" indent="0">
              <a:buNone/>
            </a:pP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h1</a:t>
            </a:r>
            <a:r>
              <a:rPr lang="en-GB" dirty="0">
                <a:solidFill>
                  <a:srgbClr val="FF0000"/>
                </a:solidFill>
                <a:latin typeface="Consolas" panose="020B0609020204030204" pitchFamily="49" charset="0"/>
              </a:rPr>
              <a:t> style</a:t>
            </a:r>
            <a:r>
              <a:rPr lang="en-GB" dirty="0">
                <a:solidFill>
                  <a:srgbClr val="0000CD"/>
                </a:solidFill>
                <a:latin typeface="Consolas" panose="020B0609020204030204" pitchFamily="49" charset="0"/>
              </a:rPr>
              <a:t>="border:2px solid Tomato;"&gt;</a:t>
            </a:r>
            <a:r>
              <a:rPr lang="en-GB" dirty="0">
                <a:solidFill>
                  <a:srgbClr val="000000"/>
                </a:solidFill>
                <a:latin typeface="Consolas" panose="020B0609020204030204" pitchFamily="49" charset="0"/>
              </a:rPr>
              <a:t>Hello World</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/h1</a:t>
            </a:r>
            <a:r>
              <a:rPr lang="en-GB" dirty="0">
                <a:solidFill>
                  <a:srgbClr val="0000CD"/>
                </a:solidFill>
                <a:latin typeface="Consolas" panose="020B0609020204030204" pitchFamily="49" charset="0"/>
              </a:rPr>
              <a:t>&gt;</a:t>
            </a:r>
          </a:p>
          <a:p>
            <a:pPr indent="-285750"/>
            <a:r>
              <a:rPr lang="en-GB" dirty="0">
                <a:solidFill>
                  <a:schemeClr val="tx1"/>
                </a:solidFill>
                <a:latin typeface="Consolas" panose="020B0609020204030204" pitchFamily="49" charset="0"/>
              </a:rPr>
              <a:t>CSS Styling</a:t>
            </a:r>
          </a:p>
          <a:p>
            <a:pPr lvl="1"/>
            <a:r>
              <a:rPr lang="en-GB" dirty="0">
                <a:solidFill>
                  <a:schemeClr val="tx1"/>
                </a:solidFill>
                <a:latin typeface="Consolas" panose="020B0609020204030204" pitchFamily="49" charset="0"/>
              </a:rPr>
              <a:t>Inline CSS </a:t>
            </a:r>
          </a:p>
          <a:p>
            <a:pPr lvl="1"/>
            <a:r>
              <a:rPr lang="en-GB" dirty="0">
                <a:solidFill>
                  <a:schemeClr val="tx1"/>
                </a:solidFill>
                <a:latin typeface="Consolas" panose="020B0609020204030204" pitchFamily="49" charset="0"/>
              </a:rPr>
              <a:t>Internal CSS</a:t>
            </a:r>
          </a:p>
          <a:p>
            <a:pPr lvl="1"/>
            <a:r>
              <a:rPr lang="en-GB" dirty="0">
                <a:solidFill>
                  <a:schemeClr val="tx1"/>
                </a:solidFill>
                <a:latin typeface="Consolas" panose="020B0609020204030204" pitchFamily="49" charset="0"/>
              </a:rPr>
              <a:t>External CSS </a:t>
            </a:r>
          </a:p>
          <a:p>
            <a:pPr marL="457200" lvl="1" indent="0">
              <a:buNone/>
            </a:pPr>
            <a:endParaRPr lang="en-GB" dirty="0">
              <a:solidFill>
                <a:schemeClr val="tx1"/>
              </a:solidFill>
              <a:latin typeface="Consolas" panose="020B0609020204030204" pitchFamily="49" charset="0"/>
            </a:endParaRPr>
          </a:p>
          <a:p>
            <a:pPr indent="-285750"/>
            <a:r>
              <a:rPr lang="en-GB" dirty="0">
                <a:solidFill>
                  <a:schemeClr val="tx1"/>
                </a:solidFill>
                <a:latin typeface="Consolas" panose="020B0609020204030204" pitchFamily="49" charset="0"/>
              </a:rPr>
              <a:t>Other Styles</a:t>
            </a:r>
          </a:p>
          <a:p>
            <a:pPr lvl="1"/>
            <a:r>
              <a:rPr lang="en-GB" dirty="0">
                <a:solidFill>
                  <a:schemeClr val="tx1"/>
                </a:solidFill>
                <a:latin typeface="Consolas" panose="020B0609020204030204" pitchFamily="49" charset="0"/>
              </a:rPr>
              <a:t>Padding: Space between text and border</a:t>
            </a:r>
          </a:p>
          <a:p>
            <a:pPr lvl="1"/>
            <a:r>
              <a:rPr lang="en-GB" dirty="0">
                <a:solidFill>
                  <a:schemeClr val="tx1"/>
                </a:solidFill>
                <a:latin typeface="Consolas" panose="020B0609020204030204" pitchFamily="49" charset="0"/>
              </a:rPr>
              <a:t>Margin: space outside the border</a:t>
            </a:r>
          </a:p>
          <a:p>
            <a:pPr lvl="1"/>
            <a:r>
              <a:rPr lang="en-GB" dirty="0">
                <a:solidFill>
                  <a:schemeClr val="tx1"/>
                </a:solidFill>
                <a:latin typeface="Consolas" panose="020B0609020204030204" pitchFamily="49" charset="0"/>
              </a:rPr>
              <a:t>Hyperlinks: </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a</a:t>
            </a:r>
            <a:r>
              <a:rPr lang="en-GB" dirty="0">
                <a:solidFill>
                  <a:srgbClr val="FF0000"/>
                </a:solidFill>
                <a:latin typeface="Consolas" panose="020B0609020204030204" pitchFamily="49" charset="0"/>
              </a:rPr>
              <a:t> </a:t>
            </a:r>
            <a:r>
              <a:rPr lang="en-GB" dirty="0" err="1">
                <a:solidFill>
                  <a:srgbClr val="FF0000"/>
                </a:solidFill>
                <a:latin typeface="Consolas" panose="020B0609020204030204" pitchFamily="49" charset="0"/>
              </a:rPr>
              <a:t>href</a:t>
            </a:r>
            <a:r>
              <a:rPr lang="en-GB" dirty="0">
                <a:solidFill>
                  <a:srgbClr val="0000CD"/>
                </a:solidFill>
                <a:latin typeface="Consolas" panose="020B0609020204030204" pitchFamily="49" charset="0"/>
              </a:rPr>
              <a:t>="</a:t>
            </a:r>
            <a:r>
              <a:rPr lang="en-GB" i="1" dirty="0" err="1">
                <a:solidFill>
                  <a:srgbClr val="0000CD"/>
                </a:solidFill>
                <a:latin typeface="Consolas" panose="020B0609020204030204" pitchFamily="49" charset="0"/>
              </a:rPr>
              <a:t>url</a:t>
            </a:r>
            <a:r>
              <a:rPr lang="en-GB" dirty="0">
                <a:solidFill>
                  <a:srgbClr val="0000CD"/>
                </a:solidFill>
                <a:latin typeface="Consolas" panose="020B0609020204030204" pitchFamily="49" charset="0"/>
              </a:rPr>
              <a:t>"&gt;</a:t>
            </a:r>
            <a:r>
              <a:rPr lang="en-GB" i="1" dirty="0">
                <a:solidFill>
                  <a:srgbClr val="000000"/>
                </a:solidFill>
                <a:latin typeface="Consolas" panose="020B0609020204030204" pitchFamily="49" charset="0"/>
              </a:rPr>
              <a:t>link text</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/a</a:t>
            </a:r>
            <a:r>
              <a:rPr lang="en-GB" dirty="0">
                <a:solidFill>
                  <a:srgbClr val="0000CD"/>
                </a:solidFill>
                <a:latin typeface="Consolas" panose="020B0609020204030204" pitchFamily="49" charset="0"/>
              </a:rPr>
              <a:t>&gt;</a:t>
            </a:r>
          </a:p>
          <a:p>
            <a:pPr lvl="1"/>
            <a:r>
              <a:rPr lang="en-GB" dirty="0">
                <a:solidFill>
                  <a:schemeClr val="tx1"/>
                </a:solidFill>
                <a:latin typeface="Consolas" panose="020B0609020204030204" pitchFamily="49" charset="0"/>
              </a:rPr>
              <a:t>Absolute URLS vs Relative </a:t>
            </a:r>
            <a:r>
              <a:rPr lang="en-GB" dirty="0" err="1">
                <a:solidFill>
                  <a:schemeClr val="tx1"/>
                </a:solidFill>
                <a:latin typeface="Consolas" panose="020B0609020204030204" pitchFamily="49" charset="0"/>
              </a:rPr>
              <a:t>Urls</a:t>
            </a:r>
            <a:r>
              <a:rPr lang="en-GB" dirty="0">
                <a:solidFill>
                  <a:schemeClr val="tx1"/>
                </a:solidFill>
                <a:latin typeface="Consolas" panose="020B0609020204030204" pitchFamily="49" charset="0"/>
              </a:rPr>
              <a:t> </a:t>
            </a:r>
          </a:p>
          <a:p>
            <a:pPr lvl="1"/>
            <a:r>
              <a:rPr lang="en-GB" dirty="0">
                <a:solidFill>
                  <a:schemeClr val="tx1"/>
                </a:solidFill>
                <a:latin typeface="Consolas" panose="020B0609020204030204" pitchFamily="49" charset="0"/>
              </a:rPr>
              <a:t>Image as a link: &lt;a </a:t>
            </a:r>
            <a:r>
              <a:rPr lang="en-GB" dirty="0" err="1">
                <a:solidFill>
                  <a:schemeClr val="tx1"/>
                </a:solidFill>
                <a:latin typeface="Consolas" panose="020B0609020204030204" pitchFamily="49" charset="0"/>
              </a:rPr>
              <a:t>href</a:t>
            </a:r>
            <a:r>
              <a:rPr lang="en-GB" dirty="0">
                <a:solidFill>
                  <a:schemeClr val="tx1"/>
                </a:solidFill>
                <a:latin typeface="Consolas" panose="020B0609020204030204" pitchFamily="49" charset="0"/>
              </a:rPr>
              <a:t>=”homepage.html"&gt;&lt;</a:t>
            </a:r>
            <a:r>
              <a:rPr lang="en-GB" dirty="0" err="1">
                <a:solidFill>
                  <a:schemeClr val="tx1"/>
                </a:solidFill>
                <a:latin typeface="Consolas" panose="020B0609020204030204" pitchFamily="49" charset="0"/>
              </a:rPr>
              <a:t>img</a:t>
            </a:r>
            <a:r>
              <a:rPr lang="en-GB" dirty="0">
                <a:solidFill>
                  <a:schemeClr val="tx1"/>
                </a:solidFill>
                <a:latin typeface="Consolas" panose="020B0609020204030204" pitchFamily="49" charset="0"/>
              </a:rPr>
              <a:t> </a:t>
            </a:r>
            <a:r>
              <a:rPr lang="en-GB" dirty="0" err="1">
                <a:solidFill>
                  <a:schemeClr val="tx1"/>
                </a:solidFill>
                <a:latin typeface="Consolas" panose="020B0609020204030204" pitchFamily="49" charset="0"/>
              </a:rPr>
              <a:t>src</a:t>
            </a:r>
            <a:r>
              <a:rPr lang="en-GB" dirty="0">
                <a:solidFill>
                  <a:schemeClr val="tx1"/>
                </a:solidFill>
                <a:latin typeface="Consolas" panose="020B0609020204030204" pitchFamily="49" charset="0"/>
              </a:rPr>
              <a:t>=”logo.gif" alt="HTML tutorial" style="width:42px;height:42px;"&gt;&lt;/a&gt;</a:t>
            </a:r>
          </a:p>
          <a:p>
            <a:pPr marL="457200" lvl="1" indent="0">
              <a:buNone/>
            </a:pPr>
            <a:endParaRPr lang="en-GB" dirty="0">
              <a:solidFill>
                <a:schemeClr val="tx1"/>
              </a:solidFill>
              <a:latin typeface="Consolas" panose="020B0609020204030204" pitchFamily="49" charset="0"/>
            </a:endParaRPr>
          </a:p>
          <a:p>
            <a:pPr marL="457200" lvl="1" indent="0">
              <a:buNone/>
            </a:pPr>
            <a:r>
              <a:rPr lang="en-GB" dirty="0">
                <a:solidFill>
                  <a:schemeClr val="tx1"/>
                </a:solidFill>
                <a:latin typeface="Consolas" panose="020B0609020204030204" pitchFamily="49" charset="0"/>
              </a:rPr>
              <a:t>LETs TRY IT!!</a:t>
            </a:r>
            <a:br>
              <a:rPr lang="en-GB" dirty="0"/>
            </a:br>
            <a:endParaRPr lang="en-GB" dirty="0">
              <a:solidFill>
                <a:srgbClr val="0000CD"/>
              </a:solidFill>
              <a:latin typeface="Consolas" panose="020B0609020204030204" pitchFamily="49" charset="0"/>
            </a:endParaRPr>
          </a:p>
        </p:txBody>
      </p:sp>
      <p:sp>
        <p:nvSpPr>
          <p:cNvPr id="4" name="Slide Number Placeholder 3">
            <a:extLst>
              <a:ext uri="{FF2B5EF4-FFF2-40B4-BE49-F238E27FC236}">
                <a16:creationId xmlns:a16="http://schemas.microsoft.com/office/drawing/2014/main" id="{1D312D6C-5FC1-456A-B819-913FDCE34F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3080430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DE18-8595-0EA6-E529-6DC7EE9604AD}"/>
              </a:ext>
            </a:extLst>
          </p:cNvPr>
          <p:cNvSpPr>
            <a:spLocks noGrp="1"/>
          </p:cNvSpPr>
          <p:nvPr>
            <p:ph type="title"/>
          </p:nvPr>
        </p:nvSpPr>
        <p:spPr/>
        <p:txBody>
          <a:bodyPr/>
          <a:lstStyle/>
          <a:p>
            <a:r>
              <a:rPr lang="en-PK" dirty="0"/>
              <a:t>HTML Styling</a:t>
            </a:r>
            <a:endParaRPr lang="en-US" dirty="0"/>
          </a:p>
        </p:txBody>
      </p:sp>
      <p:sp>
        <p:nvSpPr>
          <p:cNvPr id="3" name="Text Placeholder 2">
            <a:extLst>
              <a:ext uri="{FF2B5EF4-FFF2-40B4-BE49-F238E27FC236}">
                <a16:creationId xmlns:a16="http://schemas.microsoft.com/office/drawing/2014/main" id="{867EB6D8-61E2-FF31-0AC4-983DF81D63FD}"/>
              </a:ext>
            </a:extLst>
          </p:cNvPr>
          <p:cNvSpPr>
            <a:spLocks noGrp="1"/>
          </p:cNvSpPr>
          <p:nvPr>
            <p:ph type="body" idx="1"/>
          </p:nvPr>
        </p:nvSpPr>
        <p:spPr/>
        <p:txBody>
          <a:bodyPr>
            <a:normAutofit lnSpcReduction="10000"/>
          </a:bodyPr>
          <a:lstStyle/>
          <a:p>
            <a:pPr indent="-285750"/>
            <a:r>
              <a:rPr lang="en-GB" dirty="0">
                <a:solidFill>
                  <a:schemeClr val="tx1"/>
                </a:solidFill>
                <a:latin typeface="Consolas" panose="020B0609020204030204" pitchFamily="49" charset="0"/>
              </a:rPr>
              <a:t>Other Styles</a:t>
            </a:r>
          </a:p>
          <a:p>
            <a:pPr lvl="1"/>
            <a:r>
              <a:rPr lang="en-GB" dirty="0">
                <a:solidFill>
                  <a:schemeClr val="tx1"/>
                </a:solidFill>
                <a:latin typeface="Consolas" panose="020B0609020204030204" pitchFamily="49" charset="0"/>
              </a:rPr>
              <a:t>Padding: Space between text and border</a:t>
            </a:r>
          </a:p>
          <a:p>
            <a:pPr lvl="1"/>
            <a:r>
              <a:rPr lang="en-GB" dirty="0">
                <a:solidFill>
                  <a:schemeClr val="tx1"/>
                </a:solidFill>
                <a:latin typeface="Consolas" panose="020B0609020204030204" pitchFamily="49" charset="0"/>
              </a:rPr>
              <a:t>Margin: space outside the border</a:t>
            </a:r>
          </a:p>
          <a:p>
            <a:pPr lvl="1"/>
            <a:r>
              <a:rPr lang="en-GB" dirty="0">
                <a:solidFill>
                  <a:schemeClr val="tx1"/>
                </a:solidFill>
                <a:latin typeface="Consolas" panose="020B0609020204030204" pitchFamily="49" charset="0"/>
              </a:rPr>
              <a:t>Hyperlinks: </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a</a:t>
            </a:r>
            <a:r>
              <a:rPr lang="en-GB" dirty="0">
                <a:solidFill>
                  <a:srgbClr val="FF0000"/>
                </a:solidFill>
                <a:latin typeface="Consolas" panose="020B0609020204030204" pitchFamily="49" charset="0"/>
              </a:rPr>
              <a:t> </a:t>
            </a:r>
            <a:r>
              <a:rPr lang="en-GB" dirty="0" err="1">
                <a:solidFill>
                  <a:srgbClr val="FF0000"/>
                </a:solidFill>
                <a:latin typeface="Consolas" panose="020B0609020204030204" pitchFamily="49" charset="0"/>
              </a:rPr>
              <a:t>href</a:t>
            </a:r>
            <a:r>
              <a:rPr lang="en-GB" dirty="0">
                <a:solidFill>
                  <a:srgbClr val="0000CD"/>
                </a:solidFill>
                <a:latin typeface="Consolas" panose="020B0609020204030204" pitchFamily="49" charset="0"/>
              </a:rPr>
              <a:t>="</a:t>
            </a:r>
            <a:r>
              <a:rPr lang="en-GB" i="1" dirty="0" err="1">
                <a:solidFill>
                  <a:srgbClr val="0000CD"/>
                </a:solidFill>
                <a:latin typeface="Consolas" panose="020B0609020204030204" pitchFamily="49" charset="0"/>
              </a:rPr>
              <a:t>url</a:t>
            </a:r>
            <a:r>
              <a:rPr lang="en-GB" dirty="0">
                <a:solidFill>
                  <a:srgbClr val="0000CD"/>
                </a:solidFill>
                <a:latin typeface="Consolas" panose="020B0609020204030204" pitchFamily="49" charset="0"/>
              </a:rPr>
              <a:t>"&gt;</a:t>
            </a:r>
            <a:r>
              <a:rPr lang="en-GB" i="1" dirty="0">
                <a:solidFill>
                  <a:srgbClr val="000000"/>
                </a:solidFill>
                <a:latin typeface="Consolas" panose="020B0609020204030204" pitchFamily="49" charset="0"/>
              </a:rPr>
              <a:t>link text</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/a</a:t>
            </a:r>
            <a:r>
              <a:rPr lang="en-GB" dirty="0">
                <a:solidFill>
                  <a:srgbClr val="0000CD"/>
                </a:solidFill>
                <a:latin typeface="Consolas" panose="020B0609020204030204" pitchFamily="49" charset="0"/>
              </a:rPr>
              <a:t>&gt;</a:t>
            </a:r>
          </a:p>
          <a:p>
            <a:pPr lvl="1"/>
            <a:r>
              <a:rPr lang="en-GB" dirty="0">
                <a:solidFill>
                  <a:schemeClr val="tx1"/>
                </a:solidFill>
                <a:latin typeface="Consolas" panose="020B0609020204030204" pitchFamily="49" charset="0"/>
              </a:rPr>
              <a:t>Absolute URLS vs Relative </a:t>
            </a:r>
            <a:r>
              <a:rPr lang="en-GB" dirty="0" err="1">
                <a:solidFill>
                  <a:schemeClr val="tx1"/>
                </a:solidFill>
                <a:latin typeface="Consolas" panose="020B0609020204030204" pitchFamily="49" charset="0"/>
              </a:rPr>
              <a:t>Urls</a:t>
            </a:r>
            <a:r>
              <a:rPr lang="en-GB" dirty="0">
                <a:solidFill>
                  <a:schemeClr val="tx1"/>
                </a:solidFill>
                <a:latin typeface="Consolas" panose="020B0609020204030204" pitchFamily="49" charset="0"/>
              </a:rPr>
              <a:t> </a:t>
            </a:r>
          </a:p>
          <a:p>
            <a:pPr lvl="1"/>
            <a:r>
              <a:rPr lang="en-GB" dirty="0">
                <a:solidFill>
                  <a:schemeClr val="tx1"/>
                </a:solidFill>
                <a:latin typeface="Consolas" panose="020B0609020204030204" pitchFamily="49" charset="0"/>
              </a:rPr>
              <a:t>Image as a link: </a:t>
            </a:r>
            <a:r>
              <a:rPr lang="en-GB" dirty="0">
                <a:solidFill>
                  <a:srgbClr val="0000CD"/>
                </a:solidFill>
                <a:latin typeface="Consolas" panose="020B0609020204030204" pitchFamily="49" charset="0"/>
              </a:rPr>
              <a:t>&lt;a </a:t>
            </a:r>
            <a:r>
              <a:rPr lang="en-GB" dirty="0" err="1">
                <a:solidFill>
                  <a:srgbClr val="0000CD"/>
                </a:solidFill>
                <a:latin typeface="Consolas" panose="020B0609020204030204" pitchFamily="49" charset="0"/>
              </a:rPr>
              <a:t>href</a:t>
            </a:r>
            <a:r>
              <a:rPr lang="en-GB" dirty="0">
                <a:solidFill>
                  <a:srgbClr val="0000CD"/>
                </a:solidFill>
                <a:latin typeface="Consolas" panose="020B0609020204030204" pitchFamily="49" charset="0"/>
              </a:rPr>
              <a:t>=”homepage.html"&gt;&lt;</a:t>
            </a:r>
            <a:r>
              <a:rPr lang="en-GB" dirty="0" err="1">
                <a:solidFill>
                  <a:srgbClr val="0000CD"/>
                </a:solidFill>
                <a:latin typeface="Consolas" panose="020B0609020204030204" pitchFamily="49" charset="0"/>
              </a:rPr>
              <a:t>img</a:t>
            </a:r>
            <a:r>
              <a:rPr lang="en-GB" dirty="0">
                <a:solidFill>
                  <a:srgbClr val="0000CD"/>
                </a:solidFill>
                <a:latin typeface="Consolas" panose="020B0609020204030204" pitchFamily="49" charset="0"/>
              </a:rPr>
              <a:t> </a:t>
            </a:r>
            <a:r>
              <a:rPr lang="en-GB" dirty="0" err="1">
                <a:solidFill>
                  <a:srgbClr val="0000CD"/>
                </a:solidFill>
                <a:latin typeface="Consolas" panose="020B0609020204030204" pitchFamily="49" charset="0"/>
              </a:rPr>
              <a:t>src</a:t>
            </a:r>
            <a:r>
              <a:rPr lang="en-GB" dirty="0">
                <a:solidFill>
                  <a:srgbClr val="0000CD"/>
                </a:solidFill>
                <a:latin typeface="Consolas" panose="020B0609020204030204" pitchFamily="49" charset="0"/>
              </a:rPr>
              <a:t>=”logo.gif" alt="HTML tutorial" style="width:42px;height:42px;"&gt;&lt;/a&gt;</a:t>
            </a:r>
          </a:p>
          <a:p>
            <a:pPr lvl="1"/>
            <a:r>
              <a:rPr lang="en-GB" dirty="0">
                <a:solidFill>
                  <a:schemeClr val="tx1"/>
                </a:solidFill>
                <a:latin typeface="Consolas" panose="020B0609020204030204" pitchFamily="49" charset="0"/>
              </a:rPr>
              <a:t>Email Link: </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a</a:t>
            </a:r>
            <a:r>
              <a:rPr lang="en-GB" dirty="0">
                <a:solidFill>
                  <a:srgbClr val="FF0000"/>
                </a:solidFill>
                <a:latin typeface="Consolas" panose="020B0609020204030204" pitchFamily="49" charset="0"/>
              </a:rPr>
              <a:t> </a:t>
            </a:r>
            <a:r>
              <a:rPr lang="en-GB" dirty="0" err="1">
                <a:solidFill>
                  <a:srgbClr val="FF0000"/>
                </a:solidFill>
                <a:latin typeface="Consolas" panose="020B0609020204030204" pitchFamily="49" charset="0"/>
              </a:rPr>
              <a:t>href</a:t>
            </a:r>
            <a:r>
              <a:rPr lang="en-GB" dirty="0">
                <a:solidFill>
                  <a:srgbClr val="0000CD"/>
                </a:solidFill>
                <a:latin typeface="Consolas" panose="020B0609020204030204" pitchFamily="49" charset="0"/>
              </a:rPr>
              <a:t>="mailto:someone@example.com"&gt;</a:t>
            </a:r>
            <a:r>
              <a:rPr lang="en-GB" dirty="0">
                <a:solidFill>
                  <a:srgbClr val="000000"/>
                </a:solidFill>
                <a:latin typeface="Consolas" panose="020B0609020204030204" pitchFamily="49" charset="0"/>
              </a:rPr>
              <a:t>Send email</a:t>
            </a:r>
            <a:r>
              <a:rPr lang="en-GB" dirty="0">
                <a:solidFill>
                  <a:srgbClr val="0000CD"/>
                </a:solidFill>
                <a:latin typeface="Consolas" panose="020B0609020204030204" pitchFamily="49" charset="0"/>
              </a:rPr>
              <a:t>&lt;</a:t>
            </a:r>
            <a:r>
              <a:rPr lang="en-GB" dirty="0">
                <a:solidFill>
                  <a:srgbClr val="A52A2A"/>
                </a:solidFill>
                <a:latin typeface="Consolas" panose="020B0609020204030204" pitchFamily="49" charset="0"/>
              </a:rPr>
              <a:t>/a</a:t>
            </a:r>
            <a:r>
              <a:rPr lang="en-GB" dirty="0">
                <a:solidFill>
                  <a:srgbClr val="0000CD"/>
                </a:solidFill>
                <a:latin typeface="Consolas" panose="020B0609020204030204" pitchFamily="49" charset="0"/>
              </a:rPr>
              <a:t>&gt;</a:t>
            </a:r>
            <a:endParaRPr lang="en-GB" dirty="0">
              <a:solidFill>
                <a:schemeClr val="tx1"/>
              </a:solidFill>
              <a:latin typeface="Consolas" panose="020B0609020204030204" pitchFamily="49" charset="0"/>
            </a:endParaRPr>
          </a:p>
          <a:p>
            <a:pPr marL="457200" lvl="1" indent="0">
              <a:buNone/>
            </a:pPr>
            <a:endParaRPr lang="en-GB" dirty="0">
              <a:solidFill>
                <a:schemeClr val="tx1"/>
              </a:solidFill>
              <a:latin typeface="Consolas" panose="020B0609020204030204" pitchFamily="49" charset="0"/>
            </a:endParaRPr>
          </a:p>
          <a:p>
            <a:pPr marL="457200" lvl="1" indent="0">
              <a:buNone/>
            </a:pPr>
            <a:r>
              <a:rPr lang="en-GB" dirty="0">
                <a:solidFill>
                  <a:schemeClr val="tx1"/>
                </a:solidFill>
                <a:latin typeface="Consolas" panose="020B0609020204030204" pitchFamily="49" charset="0"/>
              </a:rPr>
              <a:t>LETs TRY IT!!</a:t>
            </a:r>
            <a:endParaRPr lang="en-US" dirty="0"/>
          </a:p>
        </p:txBody>
      </p:sp>
      <p:sp>
        <p:nvSpPr>
          <p:cNvPr id="4" name="Slide Number Placeholder 3">
            <a:extLst>
              <a:ext uri="{FF2B5EF4-FFF2-40B4-BE49-F238E27FC236}">
                <a16:creationId xmlns:a16="http://schemas.microsoft.com/office/drawing/2014/main" id="{F9EC800A-010D-C402-0D0C-577FF1E094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2762692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E9A87-D86B-D077-194B-234DDED03294}"/>
              </a:ext>
            </a:extLst>
          </p:cNvPr>
          <p:cNvSpPr>
            <a:spLocks noGrp="1"/>
          </p:cNvSpPr>
          <p:nvPr>
            <p:ph type="title"/>
          </p:nvPr>
        </p:nvSpPr>
        <p:spPr/>
        <p:txBody>
          <a:bodyPr/>
          <a:lstStyle/>
          <a:p>
            <a:r>
              <a:rPr lang="en-PK" dirty="0"/>
              <a:t>HTML Styling</a:t>
            </a:r>
            <a:endParaRPr lang="en-US" dirty="0"/>
          </a:p>
        </p:txBody>
      </p:sp>
      <p:sp>
        <p:nvSpPr>
          <p:cNvPr id="3" name="Text Placeholder 2">
            <a:extLst>
              <a:ext uri="{FF2B5EF4-FFF2-40B4-BE49-F238E27FC236}">
                <a16:creationId xmlns:a16="http://schemas.microsoft.com/office/drawing/2014/main" id="{496469D7-76CC-6BF5-19A5-F30D45222B7B}"/>
              </a:ext>
            </a:extLst>
          </p:cNvPr>
          <p:cNvSpPr>
            <a:spLocks noGrp="1"/>
          </p:cNvSpPr>
          <p:nvPr>
            <p:ph type="body" idx="1"/>
          </p:nvPr>
        </p:nvSpPr>
        <p:spPr>
          <a:xfrm>
            <a:off x="838200" y="1825625"/>
            <a:ext cx="10515600" cy="4667250"/>
          </a:xfrm>
        </p:spPr>
        <p:txBody>
          <a:bodyPr>
            <a:normAutofit fontScale="85000" lnSpcReduction="20000"/>
          </a:bodyPr>
          <a:lstStyle/>
          <a:p>
            <a:r>
              <a:rPr lang="en-US" dirty="0"/>
              <a:t>HTML Formatting</a:t>
            </a:r>
          </a:p>
          <a:p>
            <a:r>
              <a:rPr lang="en-US" dirty="0"/>
              <a:t>&lt;b&gt; - Bold text</a:t>
            </a:r>
          </a:p>
          <a:p>
            <a:r>
              <a:rPr lang="en-US" dirty="0"/>
              <a:t>&lt;strong&gt; - Important text</a:t>
            </a:r>
          </a:p>
          <a:p>
            <a:r>
              <a:rPr lang="en-US" dirty="0"/>
              <a:t>&lt;</a:t>
            </a:r>
            <a:r>
              <a:rPr lang="en-US" dirty="0" err="1"/>
              <a:t>i</a:t>
            </a:r>
            <a:r>
              <a:rPr lang="en-US" dirty="0"/>
              <a:t>&gt; - Italic text</a:t>
            </a:r>
          </a:p>
          <a:p>
            <a:r>
              <a:rPr lang="en-US" dirty="0"/>
              <a:t>&lt;</a:t>
            </a:r>
            <a:r>
              <a:rPr lang="en-US" dirty="0" err="1"/>
              <a:t>em</a:t>
            </a:r>
            <a:r>
              <a:rPr lang="en-US" dirty="0"/>
              <a:t>&gt; - Emphasized text</a:t>
            </a:r>
          </a:p>
          <a:p>
            <a:r>
              <a:rPr lang="en-US" dirty="0"/>
              <a:t>&lt;mark&gt; - Marked text</a:t>
            </a:r>
          </a:p>
          <a:p>
            <a:r>
              <a:rPr lang="en-US" dirty="0"/>
              <a:t>&lt;small&gt; - Smaller text</a:t>
            </a:r>
          </a:p>
          <a:p>
            <a:r>
              <a:rPr lang="en-US" dirty="0"/>
              <a:t>&lt;del&gt; - Deleted text</a:t>
            </a:r>
          </a:p>
          <a:p>
            <a:r>
              <a:rPr lang="en-US" dirty="0"/>
              <a:t>&lt;ins&gt; - Inserted text</a:t>
            </a:r>
          </a:p>
          <a:p>
            <a:r>
              <a:rPr lang="en-US" dirty="0"/>
              <a:t>&lt;sub&gt; - Subscript text</a:t>
            </a:r>
          </a:p>
          <a:p>
            <a:r>
              <a:rPr lang="en-US" dirty="0"/>
              <a:t>&lt;sup&gt; - Superscript text</a:t>
            </a:r>
          </a:p>
          <a:p>
            <a:pPr marL="114300" indent="0">
              <a:buNone/>
            </a:pPr>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F739DC1-41D8-479E-2A50-815FD7A9E5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1361689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5EF1E-E9BF-5A0F-6DB7-3E20069E0EB9}"/>
              </a:ext>
            </a:extLst>
          </p:cNvPr>
          <p:cNvSpPr>
            <a:spLocks noGrp="1"/>
          </p:cNvSpPr>
          <p:nvPr>
            <p:ph type="title"/>
          </p:nvPr>
        </p:nvSpPr>
        <p:spPr/>
        <p:txBody>
          <a:bodyPr/>
          <a:lstStyle/>
          <a:p>
            <a:r>
              <a:rPr lang="en-PK" dirty="0"/>
              <a:t>Tables</a:t>
            </a:r>
            <a:endParaRPr lang="en-US" dirty="0"/>
          </a:p>
        </p:txBody>
      </p:sp>
      <p:sp>
        <p:nvSpPr>
          <p:cNvPr id="3" name="Text Placeholder 2">
            <a:extLst>
              <a:ext uri="{FF2B5EF4-FFF2-40B4-BE49-F238E27FC236}">
                <a16:creationId xmlns:a16="http://schemas.microsoft.com/office/drawing/2014/main" id="{CE5B7612-4B03-E9D4-EF4E-06F39C3678FD}"/>
              </a:ext>
            </a:extLst>
          </p:cNvPr>
          <p:cNvSpPr>
            <a:spLocks noGrp="1"/>
          </p:cNvSpPr>
          <p:nvPr>
            <p:ph type="body" idx="1"/>
          </p:nvPr>
        </p:nvSpPr>
        <p:spPr>
          <a:xfrm>
            <a:off x="838200" y="1825625"/>
            <a:ext cx="10515600" cy="4667250"/>
          </a:xfrm>
        </p:spPr>
        <p:txBody>
          <a:bodyPr>
            <a:normAutofit fontScale="85000" lnSpcReduction="20000"/>
          </a:bodyPr>
          <a:lstStyle/>
          <a:p>
            <a:pPr marL="0" indent="0">
              <a:buNone/>
            </a:pPr>
            <a:r>
              <a:rPr lang="en-PK" dirty="0"/>
              <a:t>&lt;table&gt;</a:t>
            </a:r>
          </a:p>
          <a:p>
            <a:pPr marL="0" indent="0">
              <a:buNone/>
            </a:pPr>
            <a:r>
              <a:rPr lang="en-PK" dirty="0"/>
              <a:t>	&lt;tr&gt;</a:t>
            </a:r>
          </a:p>
          <a:p>
            <a:pPr marL="0" indent="0">
              <a:buNone/>
            </a:pPr>
            <a:r>
              <a:rPr lang="en-PK" dirty="0"/>
              <a:t>		&lt;th&gt; ____________&lt;/th&gt;</a:t>
            </a:r>
          </a:p>
          <a:p>
            <a:pPr marL="0" indent="0">
              <a:buNone/>
            </a:pPr>
            <a:r>
              <a:rPr lang="en-PK" dirty="0"/>
              <a:t>		&lt;th&gt;_____________&lt;/th&gt;</a:t>
            </a:r>
          </a:p>
          <a:p>
            <a:pPr marL="0" indent="0">
              <a:buNone/>
            </a:pPr>
            <a:r>
              <a:rPr lang="en-PK" dirty="0"/>
              <a:t>	&lt;/tr&gt;</a:t>
            </a:r>
          </a:p>
          <a:p>
            <a:pPr marL="0" indent="0">
              <a:buNone/>
            </a:pPr>
            <a:r>
              <a:rPr lang="en-PK" dirty="0"/>
              <a:t>	&lt;tr&gt;</a:t>
            </a:r>
          </a:p>
          <a:p>
            <a:pPr marL="0" indent="0">
              <a:buNone/>
            </a:pPr>
            <a:r>
              <a:rPr lang="en-PK" dirty="0"/>
              <a:t>		&lt;td&gt;______________&lt;/td&gt;</a:t>
            </a:r>
          </a:p>
          <a:p>
            <a:pPr marL="0" indent="0">
              <a:buNone/>
            </a:pPr>
            <a:r>
              <a:rPr lang="en-PK" dirty="0"/>
              <a:t>		&lt;td&gt;______________&lt;/td&gt;</a:t>
            </a:r>
          </a:p>
          <a:p>
            <a:pPr marL="0" indent="0">
              <a:buNone/>
            </a:pPr>
            <a:r>
              <a:rPr lang="en-PK" dirty="0"/>
              <a:t>	&lt;/tr&gt;</a:t>
            </a:r>
          </a:p>
          <a:p>
            <a:pPr marL="0" indent="0">
              <a:buNone/>
            </a:pPr>
            <a:r>
              <a:rPr lang="en-PK" dirty="0"/>
              <a:t>&lt;/table&gt;</a:t>
            </a:r>
          </a:p>
          <a:p>
            <a:r>
              <a:rPr lang="en-PK" dirty="0"/>
              <a:t>We can also apply styling to the tables</a:t>
            </a:r>
          </a:p>
          <a:p>
            <a:pPr marL="114300" indent="0">
              <a:buNone/>
            </a:pPr>
            <a:endParaRPr lang="en-PK" dirty="0"/>
          </a:p>
        </p:txBody>
      </p:sp>
      <p:sp>
        <p:nvSpPr>
          <p:cNvPr id="4" name="Slide Number Placeholder 3">
            <a:extLst>
              <a:ext uri="{FF2B5EF4-FFF2-40B4-BE49-F238E27FC236}">
                <a16:creationId xmlns:a16="http://schemas.microsoft.com/office/drawing/2014/main" id="{3A4CA7CD-5E57-AE34-7A64-42BF0DB6A7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294283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7102B-76B0-10BB-E2B0-390584A457F1}"/>
              </a:ext>
            </a:extLst>
          </p:cNvPr>
          <p:cNvSpPr>
            <a:spLocks noGrp="1"/>
          </p:cNvSpPr>
          <p:nvPr>
            <p:ph type="title"/>
          </p:nvPr>
        </p:nvSpPr>
        <p:spPr/>
        <p:txBody>
          <a:bodyPr/>
          <a:lstStyle/>
          <a:p>
            <a:r>
              <a:rPr lang="en-PK" dirty="0"/>
              <a:t>Table Div Elements</a:t>
            </a:r>
            <a:endParaRPr lang="en-US" dirty="0"/>
          </a:p>
        </p:txBody>
      </p:sp>
      <p:sp>
        <p:nvSpPr>
          <p:cNvPr id="3" name="Text Placeholder 2">
            <a:extLst>
              <a:ext uri="{FF2B5EF4-FFF2-40B4-BE49-F238E27FC236}">
                <a16:creationId xmlns:a16="http://schemas.microsoft.com/office/drawing/2014/main" id="{69EB3266-412A-8FB6-6F4C-BB2A7C373FF5}"/>
              </a:ext>
            </a:extLst>
          </p:cNvPr>
          <p:cNvSpPr>
            <a:spLocks noGrp="1"/>
          </p:cNvSpPr>
          <p:nvPr>
            <p:ph type="body" idx="1"/>
          </p:nvPr>
        </p:nvSpPr>
        <p:spPr/>
        <p:txBody>
          <a:bodyPr/>
          <a:lstStyle/>
          <a:p>
            <a:r>
              <a:rPr lang="en-PK" dirty="0"/>
              <a:t>Used to make divisions of the web page</a:t>
            </a:r>
          </a:p>
          <a:p>
            <a:r>
              <a:rPr lang="en-PK" dirty="0"/>
              <a:t>&lt;div&gt;&lt;/div&gt;</a:t>
            </a:r>
          </a:p>
          <a:p>
            <a:r>
              <a:rPr lang="en-GB" dirty="0"/>
              <a:t>G</a:t>
            </a:r>
            <a:r>
              <a:rPr lang="en-PK" dirty="0"/>
              <a:t>roups various elements </a:t>
            </a:r>
          </a:p>
          <a:p>
            <a:pPr marL="114300" indent="0">
              <a:buNone/>
            </a:pPr>
            <a:endParaRPr lang="en-US" dirty="0"/>
          </a:p>
        </p:txBody>
      </p:sp>
      <p:sp>
        <p:nvSpPr>
          <p:cNvPr id="4" name="Slide Number Placeholder 3">
            <a:extLst>
              <a:ext uri="{FF2B5EF4-FFF2-40B4-BE49-F238E27FC236}">
                <a16:creationId xmlns:a16="http://schemas.microsoft.com/office/drawing/2014/main" id="{019DD81E-AEE9-817E-B7E6-32FEF21218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585991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F0A9-0BFA-1A1F-67D9-4FC6C343B0B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464100E-BD13-4437-6322-DDF2FED5D3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D44EF2-0630-2029-B385-575335D98F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5" name="Content Placeholder 4">
            <a:extLst>
              <a:ext uri="{FF2B5EF4-FFF2-40B4-BE49-F238E27FC236}">
                <a16:creationId xmlns:a16="http://schemas.microsoft.com/office/drawing/2014/main" id="{E77885D8-B64F-D2AE-5A61-FC274E73FD99}"/>
              </a:ext>
            </a:extLst>
          </p:cNvPr>
          <p:cNvPicPr>
            <a:picLocks noChangeAspect="1"/>
          </p:cNvPicPr>
          <p:nvPr/>
        </p:nvPicPr>
        <p:blipFill>
          <a:blip r:embed="rId2"/>
          <a:stretch>
            <a:fillRect/>
          </a:stretch>
        </p:blipFill>
        <p:spPr>
          <a:xfrm>
            <a:off x="375957" y="132514"/>
            <a:ext cx="11431032" cy="6500812"/>
          </a:xfrm>
          <a:prstGeom prst="rect">
            <a:avLst/>
          </a:prstGeom>
          <a:noFill/>
          <a:ln>
            <a:noFill/>
          </a:ln>
        </p:spPr>
      </p:pic>
    </p:spTree>
    <p:extLst>
      <p:ext uri="{BB962C8B-B14F-4D97-AF65-F5344CB8AC3E}">
        <p14:creationId xmlns:p14="http://schemas.microsoft.com/office/powerpoint/2010/main" val="2466053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150810-C669-A4CD-B7D2-27A39C1938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5" name="TextBox 4">
            <a:extLst>
              <a:ext uri="{FF2B5EF4-FFF2-40B4-BE49-F238E27FC236}">
                <a16:creationId xmlns:a16="http://schemas.microsoft.com/office/drawing/2014/main" id="{38E9B8DA-DDD5-16EE-488D-D15D2981E2F9}"/>
              </a:ext>
            </a:extLst>
          </p:cNvPr>
          <p:cNvSpPr txBox="1"/>
          <p:nvPr/>
        </p:nvSpPr>
        <p:spPr>
          <a:xfrm>
            <a:off x="1374322" y="825864"/>
            <a:ext cx="6101442" cy="1200329"/>
          </a:xfrm>
          <a:prstGeom prst="rect">
            <a:avLst/>
          </a:prstGeom>
          <a:noFill/>
        </p:spPr>
        <p:txBody>
          <a:bodyPr wrap="square">
            <a:spAutoFit/>
          </a:bodyPr>
          <a:lstStyle/>
          <a:p>
            <a:pPr marL="285750" indent="-285750">
              <a:buFont typeface="Wingdings" pitchFamily="2" charset="2"/>
              <a:buChar char="Ø"/>
            </a:pPr>
            <a:r>
              <a:rPr lang="en-GB" b="0" i="0" dirty="0">
                <a:solidFill>
                  <a:srgbClr val="A52A2A"/>
                </a:solidFill>
                <a:effectLst/>
                <a:latin typeface="Consolas" panose="020B0609020204030204" pitchFamily="49" charset="0"/>
              </a:rPr>
              <a:t>p </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FF0000"/>
                </a:solidFill>
                <a:effectLst/>
                <a:latin typeface="Consolas" panose="020B0609020204030204" pitchFamily="49" charset="0"/>
              </a:rPr>
              <a:t>  text-align</a:t>
            </a:r>
            <a:r>
              <a:rPr lang="en-GB" b="0" i="0" dirty="0">
                <a:solidFill>
                  <a:srgbClr val="000000"/>
                </a:solidFill>
                <a:effectLst/>
                <a:latin typeface="Consolas" panose="020B0609020204030204" pitchFamily="49" charset="0"/>
              </a:rPr>
              <a:t>:</a:t>
            </a:r>
            <a:r>
              <a:rPr lang="en-GB" b="0" i="0" dirty="0">
                <a:solidFill>
                  <a:srgbClr val="0000CD"/>
                </a:solidFill>
                <a:effectLst/>
                <a:latin typeface="Consolas" panose="020B0609020204030204" pitchFamily="49" charset="0"/>
              </a:rPr>
              <a:t> </a:t>
            </a:r>
            <a:r>
              <a:rPr lang="en-GB" b="0" i="0" dirty="0" err="1">
                <a:solidFill>
                  <a:srgbClr val="0000CD"/>
                </a:solidFill>
                <a:effectLst/>
                <a:latin typeface="Consolas" panose="020B0609020204030204" pitchFamily="49" charset="0"/>
              </a:rPr>
              <a:t>center</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FF0000"/>
                </a:solidFill>
                <a:effectLst/>
                <a:latin typeface="Consolas" panose="020B0609020204030204" pitchFamily="49" charset="0"/>
              </a:rPr>
              <a:t>  </a:t>
            </a:r>
            <a:r>
              <a:rPr lang="en-GB" b="0" i="0" dirty="0" err="1">
                <a:solidFill>
                  <a:srgbClr val="FF0000"/>
                </a:solidFill>
                <a:effectLst/>
                <a:latin typeface="Consolas" panose="020B0609020204030204" pitchFamily="49" charset="0"/>
              </a:rPr>
              <a:t>color</a:t>
            </a:r>
            <a:r>
              <a:rPr lang="en-GB" b="0" i="0" dirty="0">
                <a:solidFill>
                  <a:srgbClr val="000000"/>
                </a:solidFill>
                <a:effectLst/>
                <a:latin typeface="Consolas" panose="020B0609020204030204" pitchFamily="49" charset="0"/>
              </a:rPr>
              <a:t>:</a:t>
            </a:r>
            <a:r>
              <a:rPr lang="en-GB" b="0" i="0" dirty="0">
                <a:solidFill>
                  <a:srgbClr val="0000CD"/>
                </a:solidFill>
                <a:effectLst/>
                <a:latin typeface="Consolas" panose="020B0609020204030204" pitchFamily="49" charset="0"/>
              </a:rPr>
              <a:t> red</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000000"/>
                </a:solidFill>
                <a:effectLst/>
                <a:latin typeface="Consolas" panose="020B0609020204030204" pitchFamily="49" charset="0"/>
              </a:rPr>
              <a:t>}</a:t>
            </a:r>
            <a:endParaRPr lang="en-PK" dirty="0"/>
          </a:p>
        </p:txBody>
      </p:sp>
      <p:sp>
        <p:nvSpPr>
          <p:cNvPr id="6" name="TextBox 5">
            <a:extLst>
              <a:ext uri="{FF2B5EF4-FFF2-40B4-BE49-F238E27FC236}">
                <a16:creationId xmlns:a16="http://schemas.microsoft.com/office/drawing/2014/main" id="{9CF34FBF-ADD9-6D54-DD70-95D73F2DA204}"/>
              </a:ext>
            </a:extLst>
          </p:cNvPr>
          <p:cNvSpPr txBox="1"/>
          <p:nvPr/>
        </p:nvSpPr>
        <p:spPr>
          <a:xfrm>
            <a:off x="1374322" y="2306321"/>
            <a:ext cx="6101442" cy="1200329"/>
          </a:xfrm>
          <a:prstGeom prst="rect">
            <a:avLst/>
          </a:prstGeom>
          <a:noFill/>
        </p:spPr>
        <p:txBody>
          <a:bodyPr wrap="square">
            <a:spAutoFit/>
          </a:bodyPr>
          <a:lstStyle/>
          <a:p>
            <a:pPr marL="285750" indent="-285750">
              <a:buFont typeface="Wingdings" pitchFamily="2" charset="2"/>
              <a:buChar char="Ø"/>
            </a:pPr>
            <a:r>
              <a:rPr lang="en-GB" b="0" i="0" dirty="0">
                <a:solidFill>
                  <a:srgbClr val="A52A2A"/>
                </a:solidFill>
                <a:effectLst/>
                <a:latin typeface="Consolas" panose="020B0609020204030204" pitchFamily="49" charset="0"/>
              </a:rPr>
              <a:t>#p1 </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FF0000"/>
                </a:solidFill>
                <a:effectLst/>
                <a:latin typeface="Consolas" panose="020B0609020204030204" pitchFamily="49" charset="0"/>
              </a:rPr>
              <a:t>  text-align</a:t>
            </a:r>
            <a:r>
              <a:rPr lang="en-GB" b="0" i="0" dirty="0">
                <a:solidFill>
                  <a:srgbClr val="000000"/>
                </a:solidFill>
                <a:effectLst/>
                <a:latin typeface="Consolas" panose="020B0609020204030204" pitchFamily="49" charset="0"/>
              </a:rPr>
              <a:t>:</a:t>
            </a:r>
            <a:r>
              <a:rPr lang="en-GB" b="0" i="0" dirty="0">
                <a:solidFill>
                  <a:srgbClr val="0000CD"/>
                </a:solidFill>
                <a:effectLst/>
                <a:latin typeface="Consolas" panose="020B0609020204030204" pitchFamily="49" charset="0"/>
              </a:rPr>
              <a:t> </a:t>
            </a:r>
            <a:r>
              <a:rPr lang="en-GB" b="0" i="0" dirty="0" err="1">
                <a:solidFill>
                  <a:srgbClr val="0000CD"/>
                </a:solidFill>
                <a:effectLst/>
                <a:latin typeface="Consolas" panose="020B0609020204030204" pitchFamily="49" charset="0"/>
              </a:rPr>
              <a:t>center</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FF0000"/>
                </a:solidFill>
                <a:effectLst/>
                <a:latin typeface="Consolas" panose="020B0609020204030204" pitchFamily="49" charset="0"/>
              </a:rPr>
              <a:t>  </a:t>
            </a:r>
            <a:r>
              <a:rPr lang="en-GB" b="0" i="0" dirty="0" err="1">
                <a:solidFill>
                  <a:srgbClr val="FF0000"/>
                </a:solidFill>
                <a:effectLst/>
                <a:latin typeface="Consolas" panose="020B0609020204030204" pitchFamily="49" charset="0"/>
              </a:rPr>
              <a:t>color</a:t>
            </a:r>
            <a:r>
              <a:rPr lang="en-GB" b="0" i="0" dirty="0">
                <a:solidFill>
                  <a:srgbClr val="000000"/>
                </a:solidFill>
                <a:effectLst/>
                <a:latin typeface="Consolas" panose="020B0609020204030204" pitchFamily="49" charset="0"/>
              </a:rPr>
              <a:t>:</a:t>
            </a:r>
            <a:r>
              <a:rPr lang="en-GB" b="0" i="0" dirty="0">
                <a:solidFill>
                  <a:srgbClr val="0000CD"/>
                </a:solidFill>
                <a:effectLst/>
                <a:latin typeface="Consolas" panose="020B0609020204030204" pitchFamily="49" charset="0"/>
              </a:rPr>
              <a:t> red</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000000"/>
                </a:solidFill>
                <a:effectLst/>
                <a:latin typeface="Consolas" panose="020B0609020204030204" pitchFamily="49" charset="0"/>
              </a:rPr>
              <a:t>}</a:t>
            </a:r>
            <a:endParaRPr lang="en-PK" dirty="0"/>
          </a:p>
        </p:txBody>
      </p:sp>
      <p:sp>
        <p:nvSpPr>
          <p:cNvPr id="7" name="TextBox 6">
            <a:extLst>
              <a:ext uri="{FF2B5EF4-FFF2-40B4-BE49-F238E27FC236}">
                <a16:creationId xmlns:a16="http://schemas.microsoft.com/office/drawing/2014/main" id="{C89392A5-3C9C-038A-ABEC-31665AA21080}"/>
              </a:ext>
            </a:extLst>
          </p:cNvPr>
          <p:cNvSpPr txBox="1"/>
          <p:nvPr/>
        </p:nvSpPr>
        <p:spPr>
          <a:xfrm>
            <a:off x="1374322" y="3786778"/>
            <a:ext cx="6101442" cy="1200329"/>
          </a:xfrm>
          <a:prstGeom prst="rect">
            <a:avLst/>
          </a:prstGeom>
          <a:noFill/>
        </p:spPr>
        <p:txBody>
          <a:bodyPr wrap="square">
            <a:spAutoFit/>
          </a:bodyPr>
          <a:lstStyle/>
          <a:p>
            <a:pPr marL="285750" indent="-285750">
              <a:buFont typeface="Wingdings" pitchFamily="2" charset="2"/>
              <a:buChar char="Ø"/>
            </a:pPr>
            <a:r>
              <a:rPr lang="en-GB" b="0" i="0" dirty="0">
                <a:solidFill>
                  <a:srgbClr val="A52A2A"/>
                </a:solidFill>
                <a:effectLst/>
                <a:latin typeface="Consolas" panose="020B0609020204030204" pitchFamily="49" charset="0"/>
              </a:rPr>
              <a:t>.p1 </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FF0000"/>
                </a:solidFill>
                <a:effectLst/>
                <a:latin typeface="Consolas" panose="020B0609020204030204" pitchFamily="49" charset="0"/>
              </a:rPr>
              <a:t>  text-align</a:t>
            </a:r>
            <a:r>
              <a:rPr lang="en-GB" b="0" i="0" dirty="0">
                <a:solidFill>
                  <a:srgbClr val="000000"/>
                </a:solidFill>
                <a:effectLst/>
                <a:latin typeface="Consolas" panose="020B0609020204030204" pitchFamily="49" charset="0"/>
              </a:rPr>
              <a:t>:</a:t>
            </a:r>
            <a:r>
              <a:rPr lang="en-GB" b="0" i="0" dirty="0">
                <a:solidFill>
                  <a:srgbClr val="0000CD"/>
                </a:solidFill>
                <a:effectLst/>
                <a:latin typeface="Consolas" panose="020B0609020204030204" pitchFamily="49" charset="0"/>
              </a:rPr>
              <a:t> </a:t>
            </a:r>
            <a:r>
              <a:rPr lang="en-GB" b="0" i="0" dirty="0" err="1">
                <a:solidFill>
                  <a:srgbClr val="0000CD"/>
                </a:solidFill>
                <a:effectLst/>
                <a:latin typeface="Consolas" panose="020B0609020204030204" pitchFamily="49" charset="0"/>
              </a:rPr>
              <a:t>center</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FF0000"/>
                </a:solidFill>
                <a:effectLst/>
                <a:latin typeface="Consolas" panose="020B0609020204030204" pitchFamily="49" charset="0"/>
              </a:rPr>
              <a:t>  </a:t>
            </a:r>
            <a:r>
              <a:rPr lang="en-GB" b="0" i="0" dirty="0" err="1">
                <a:solidFill>
                  <a:srgbClr val="FF0000"/>
                </a:solidFill>
                <a:effectLst/>
                <a:latin typeface="Consolas" panose="020B0609020204030204" pitchFamily="49" charset="0"/>
              </a:rPr>
              <a:t>color</a:t>
            </a:r>
            <a:r>
              <a:rPr lang="en-GB" b="0" i="0" dirty="0">
                <a:solidFill>
                  <a:srgbClr val="000000"/>
                </a:solidFill>
                <a:effectLst/>
                <a:latin typeface="Consolas" panose="020B0609020204030204" pitchFamily="49" charset="0"/>
              </a:rPr>
              <a:t>:</a:t>
            </a:r>
            <a:r>
              <a:rPr lang="en-GB" b="0" i="0" dirty="0">
                <a:solidFill>
                  <a:srgbClr val="0000CD"/>
                </a:solidFill>
                <a:effectLst/>
                <a:latin typeface="Consolas" panose="020B0609020204030204" pitchFamily="49" charset="0"/>
              </a:rPr>
              <a:t> red</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000000"/>
                </a:solidFill>
                <a:effectLst/>
                <a:latin typeface="Consolas" panose="020B0609020204030204" pitchFamily="49" charset="0"/>
              </a:rPr>
              <a:t>}</a:t>
            </a:r>
            <a:endParaRPr lang="en-PK" dirty="0"/>
          </a:p>
        </p:txBody>
      </p:sp>
      <p:sp>
        <p:nvSpPr>
          <p:cNvPr id="8" name="TextBox 7">
            <a:extLst>
              <a:ext uri="{FF2B5EF4-FFF2-40B4-BE49-F238E27FC236}">
                <a16:creationId xmlns:a16="http://schemas.microsoft.com/office/drawing/2014/main" id="{2FFE4AD7-3659-0AAE-0DED-D6A314D542CF}"/>
              </a:ext>
            </a:extLst>
          </p:cNvPr>
          <p:cNvSpPr txBox="1"/>
          <p:nvPr/>
        </p:nvSpPr>
        <p:spPr>
          <a:xfrm>
            <a:off x="1265465" y="5431971"/>
            <a:ext cx="6101442" cy="1200329"/>
          </a:xfrm>
          <a:prstGeom prst="rect">
            <a:avLst/>
          </a:prstGeom>
          <a:noFill/>
        </p:spPr>
        <p:txBody>
          <a:bodyPr wrap="square">
            <a:spAutoFit/>
          </a:bodyPr>
          <a:lstStyle/>
          <a:p>
            <a:pPr marL="285750" indent="-285750">
              <a:buFont typeface="Wingdings" pitchFamily="2" charset="2"/>
              <a:buChar char="Ø"/>
            </a:pPr>
            <a:r>
              <a:rPr lang="en-GB" b="0" i="0" dirty="0" err="1">
                <a:solidFill>
                  <a:srgbClr val="A52A2A"/>
                </a:solidFill>
                <a:effectLst/>
                <a:latin typeface="Consolas" panose="020B0609020204030204" pitchFamily="49" charset="0"/>
              </a:rPr>
              <a:t>p.center</a:t>
            </a:r>
            <a:r>
              <a:rPr lang="en-GB" b="0" i="0" dirty="0">
                <a:solidFill>
                  <a:srgbClr val="A52A2A"/>
                </a:solidFill>
                <a:effectLst/>
                <a:latin typeface="Consolas" panose="020B0609020204030204" pitchFamily="49" charset="0"/>
              </a:rPr>
              <a:t> </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FF0000"/>
                </a:solidFill>
                <a:effectLst/>
                <a:latin typeface="Consolas" panose="020B0609020204030204" pitchFamily="49" charset="0"/>
              </a:rPr>
              <a:t>  text-align</a:t>
            </a:r>
            <a:r>
              <a:rPr lang="en-GB" b="0" i="0" dirty="0">
                <a:solidFill>
                  <a:srgbClr val="000000"/>
                </a:solidFill>
                <a:effectLst/>
                <a:latin typeface="Consolas" panose="020B0609020204030204" pitchFamily="49" charset="0"/>
              </a:rPr>
              <a:t>:</a:t>
            </a:r>
            <a:r>
              <a:rPr lang="en-GB" b="0" i="0" dirty="0">
                <a:solidFill>
                  <a:srgbClr val="0000CD"/>
                </a:solidFill>
                <a:effectLst/>
                <a:latin typeface="Consolas" panose="020B0609020204030204" pitchFamily="49" charset="0"/>
              </a:rPr>
              <a:t> </a:t>
            </a:r>
            <a:r>
              <a:rPr lang="en-GB" b="0" i="0" dirty="0" err="1">
                <a:solidFill>
                  <a:srgbClr val="0000CD"/>
                </a:solidFill>
                <a:effectLst/>
                <a:latin typeface="Consolas" panose="020B0609020204030204" pitchFamily="49" charset="0"/>
              </a:rPr>
              <a:t>center</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FF0000"/>
                </a:solidFill>
                <a:effectLst/>
                <a:latin typeface="Consolas" panose="020B0609020204030204" pitchFamily="49" charset="0"/>
              </a:rPr>
              <a:t>  </a:t>
            </a:r>
            <a:r>
              <a:rPr lang="en-GB" b="0" i="0" dirty="0" err="1">
                <a:solidFill>
                  <a:srgbClr val="FF0000"/>
                </a:solidFill>
                <a:effectLst/>
                <a:latin typeface="Consolas" panose="020B0609020204030204" pitchFamily="49" charset="0"/>
              </a:rPr>
              <a:t>color</a:t>
            </a:r>
            <a:r>
              <a:rPr lang="en-GB" b="0" i="0" dirty="0">
                <a:solidFill>
                  <a:srgbClr val="000000"/>
                </a:solidFill>
                <a:effectLst/>
                <a:latin typeface="Consolas" panose="020B0609020204030204" pitchFamily="49" charset="0"/>
              </a:rPr>
              <a:t>:</a:t>
            </a:r>
            <a:r>
              <a:rPr lang="en-GB" b="0" i="0" dirty="0">
                <a:solidFill>
                  <a:srgbClr val="0000CD"/>
                </a:solidFill>
                <a:effectLst/>
                <a:latin typeface="Consolas" panose="020B0609020204030204" pitchFamily="49" charset="0"/>
              </a:rPr>
              <a:t> red</a:t>
            </a:r>
            <a:r>
              <a:rPr lang="en-GB" b="0" i="0" dirty="0">
                <a:solidFill>
                  <a:srgbClr val="000000"/>
                </a:solidFill>
                <a:effectLst/>
                <a:latin typeface="Consolas" panose="020B0609020204030204" pitchFamily="49" charset="0"/>
              </a:rPr>
              <a:t>;</a:t>
            </a:r>
            <a:br>
              <a:rPr lang="en-GB" b="0" i="0" dirty="0">
                <a:solidFill>
                  <a:srgbClr val="FF0000"/>
                </a:solidFill>
                <a:effectLst/>
                <a:latin typeface="Consolas" panose="020B0609020204030204" pitchFamily="49" charset="0"/>
              </a:rPr>
            </a:br>
            <a:r>
              <a:rPr lang="en-GB" b="0" i="0" dirty="0">
                <a:solidFill>
                  <a:srgbClr val="000000"/>
                </a:solidFill>
                <a:effectLst/>
                <a:latin typeface="Consolas" panose="020B0609020204030204" pitchFamily="49" charset="0"/>
              </a:rPr>
              <a:t>}</a:t>
            </a:r>
            <a:endParaRPr lang="en-PK" dirty="0"/>
          </a:p>
        </p:txBody>
      </p:sp>
    </p:spTree>
    <p:extLst>
      <p:ext uri="{BB962C8B-B14F-4D97-AF65-F5344CB8AC3E}">
        <p14:creationId xmlns:p14="http://schemas.microsoft.com/office/powerpoint/2010/main" val="4029413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81712-9F80-09BA-6099-09583743DF3F}"/>
              </a:ext>
            </a:extLst>
          </p:cNvPr>
          <p:cNvSpPr>
            <a:spLocks noGrp="1"/>
          </p:cNvSpPr>
          <p:nvPr>
            <p:ph type="title"/>
          </p:nvPr>
        </p:nvSpPr>
        <p:spPr>
          <a:xfrm>
            <a:off x="838200" y="173036"/>
            <a:ext cx="10515600" cy="1325563"/>
          </a:xfrm>
        </p:spPr>
        <p:txBody>
          <a:bodyPr/>
          <a:lstStyle/>
          <a:p>
            <a:r>
              <a:rPr lang="en-US" dirty="0"/>
              <a:t>Assignment</a:t>
            </a:r>
          </a:p>
        </p:txBody>
      </p:sp>
      <p:sp>
        <p:nvSpPr>
          <p:cNvPr id="3" name="Text Placeholder 2">
            <a:extLst>
              <a:ext uri="{FF2B5EF4-FFF2-40B4-BE49-F238E27FC236}">
                <a16:creationId xmlns:a16="http://schemas.microsoft.com/office/drawing/2014/main" id="{34538B89-E765-F528-4896-E40E0FCCCC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B10E25-9981-56FC-E629-DC98957234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5" name="Content Placeholder 4" descr="A screenshot of a photo album&#10;&#10;Description automatically generated">
            <a:extLst>
              <a:ext uri="{FF2B5EF4-FFF2-40B4-BE49-F238E27FC236}">
                <a16:creationId xmlns:a16="http://schemas.microsoft.com/office/drawing/2014/main" id="{E8448F3C-D809-0DC1-6EBD-CB6EA3D1CBEB}"/>
              </a:ext>
            </a:extLst>
          </p:cNvPr>
          <p:cNvPicPr>
            <a:picLocks noChangeAspect="1"/>
          </p:cNvPicPr>
          <p:nvPr/>
        </p:nvPicPr>
        <p:blipFill>
          <a:blip r:embed="rId2"/>
          <a:stretch>
            <a:fillRect/>
          </a:stretch>
        </p:blipFill>
        <p:spPr>
          <a:xfrm>
            <a:off x="561475" y="1171574"/>
            <a:ext cx="11240000" cy="5565713"/>
          </a:xfrm>
          <a:prstGeom prst="rect">
            <a:avLst/>
          </a:prstGeom>
          <a:noFill/>
          <a:ln>
            <a:noFill/>
          </a:ln>
        </p:spPr>
      </p:pic>
    </p:spTree>
    <p:extLst>
      <p:ext uri="{BB962C8B-B14F-4D97-AF65-F5344CB8AC3E}">
        <p14:creationId xmlns:p14="http://schemas.microsoft.com/office/powerpoint/2010/main" val="3347306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Logic Building</a:t>
            </a:r>
            <a:endParaRPr>
              <a:solidFill>
                <a:srgbClr val="0070C0"/>
              </a:solidFill>
            </a:endParaRP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Computer programs are used to solve real life problems</a:t>
            </a:r>
            <a:endParaRPr/>
          </a:p>
          <a:p>
            <a:pPr marL="228600" lvl="0" indent="-228600" algn="l" rtl="0">
              <a:lnSpc>
                <a:spcPct val="90000"/>
              </a:lnSpc>
              <a:spcBef>
                <a:spcPts val="1000"/>
              </a:spcBef>
              <a:spcAft>
                <a:spcPts val="0"/>
              </a:spcAft>
              <a:buClr>
                <a:schemeClr val="dk1"/>
              </a:buClr>
              <a:buSzPts val="2800"/>
              <a:buChar char="•"/>
            </a:pPr>
            <a:r>
              <a:rPr lang="en-US"/>
              <a:t>Programming languages give you the platform to solve your problems</a:t>
            </a:r>
            <a:endParaRPr/>
          </a:p>
          <a:p>
            <a:pPr marL="228600" lvl="0" indent="-228600" algn="l" rtl="0">
              <a:lnSpc>
                <a:spcPct val="90000"/>
              </a:lnSpc>
              <a:spcBef>
                <a:spcPts val="1000"/>
              </a:spcBef>
              <a:spcAft>
                <a:spcPts val="0"/>
              </a:spcAft>
              <a:buClr>
                <a:schemeClr val="dk1"/>
              </a:buClr>
              <a:buSzPts val="2800"/>
              <a:buChar char="•"/>
            </a:pPr>
            <a:r>
              <a:rPr lang="en-US"/>
              <a:t>A good programmer must know the problem solving and analytical skills except than programming skills </a:t>
            </a:r>
            <a:endParaRPr/>
          </a:p>
          <a:p>
            <a:pPr marL="228600" lvl="0" indent="-228600" algn="l" rtl="0">
              <a:lnSpc>
                <a:spcPct val="90000"/>
              </a:lnSpc>
              <a:spcBef>
                <a:spcPts val="1000"/>
              </a:spcBef>
              <a:spcAft>
                <a:spcPts val="0"/>
              </a:spcAft>
              <a:buClr>
                <a:schemeClr val="dk1"/>
              </a:buClr>
              <a:buSzPts val="2800"/>
              <a:buChar char="•"/>
            </a:pPr>
            <a:r>
              <a:rPr lang="en-US"/>
              <a:t>Developing a solution to the problem requires logic such as:</a:t>
            </a:r>
            <a:endParaRPr/>
          </a:p>
          <a:p>
            <a:pPr marL="685800" lvl="1" indent="-228600" algn="l" rtl="0">
              <a:lnSpc>
                <a:spcPct val="90000"/>
              </a:lnSpc>
              <a:spcBef>
                <a:spcPts val="500"/>
              </a:spcBef>
              <a:spcAft>
                <a:spcPts val="0"/>
              </a:spcAft>
              <a:buClr>
                <a:schemeClr val="dk1"/>
              </a:buClr>
              <a:buSzPts val="2400"/>
              <a:buChar char="•"/>
            </a:pPr>
            <a:r>
              <a:rPr lang="en-US"/>
              <a:t>Understanding and analyzing the problem</a:t>
            </a:r>
            <a:endParaRPr/>
          </a:p>
          <a:p>
            <a:pPr marL="685800" lvl="1" indent="-228600" algn="l" rtl="0">
              <a:lnSpc>
                <a:spcPct val="90000"/>
              </a:lnSpc>
              <a:spcBef>
                <a:spcPts val="500"/>
              </a:spcBef>
              <a:spcAft>
                <a:spcPts val="0"/>
              </a:spcAft>
              <a:buClr>
                <a:schemeClr val="dk1"/>
              </a:buClr>
              <a:buSzPts val="2400"/>
              <a:buChar char="•"/>
            </a:pPr>
            <a:r>
              <a:rPr lang="en-US"/>
              <a:t>Discovering a plan to solve the problem </a:t>
            </a:r>
            <a:endParaRPr/>
          </a:p>
          <a:p>
            <a:pPr marL="685800" lvl="1" indent="-228600" algn="l" rtl="0">
              <a:lnSpc>
                <a:spcPct val="90000"/>
              </a:lnSpc>
              <a:spcBef>
                <a:spcPts val="500"/>
              </a:spcBef>
              <a:spcAft>
                <a:spcPts val="0"/>
              </a:spcAft>
              <a:buClr>
                <a:schemeClr val="dk1"/>
              </a:buClr>
              <a:buSzPts val="2400"/>
              <a:buChar char="•"/>
            </a:pPr>
            <a:r>
              <a:rPr lang="en-US"/>
              <a:t>Designing/building a solution using any programming language</a:t>
            </a:r>
            <a:endParaRPr/>
          </a:p>
          <a:p>
            <a:pPr marL="685800" lvl="1" indent="-76200" algn="l" rtl="0">
              <a:lnSpc>
                <a:spcPct val="90000"/>
              </a:lnSpc>
              <a:spcBef>
                <a:spcPts val="500"/>
              </a:spcBef>
              <a:spcAft>
                <a:spcPts val="0"/>
              </a:spcAft>
              <a:buClr>
                <a:schemeClr val="dk1"/>
              </a:buClr>
              <a:buSzPts val="2400"/>
              <a:buNone/>
            </a:pPr>
            <a:endParaRPr/>
          </a:p>
        </p:txBody>
      </p:sp>
      <p:sp>
        <p:nvSpPr>
          <p:cNvPr id="98" name="Google Shape;9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99" name="Google Shape;9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Program Development Life Cycle (PDLC)</a:t>
            </a:r>
            <a:endParaRPr>
              <a:solidFill>
                <a:srgbClr val="0070C0"/>
              </a:solidFill>
            </a:endParaRPr>
          </a:p>
        </p:txBody>
      </p:sp>
      <p:sp>
        <p:nvSpPr>
          <p:cNvPr id="105" name="Google Shape;105;p3"/>
          <p:cNvSpPr txBox="1">
            <a:spLocks noGrp="1"/>
          </p:cNvSpPr>
          <p:nvPr>
            <p:ph type="body" idx="1"/>
          </p:nvPr>
        </p:nvSpPr>
        <p:spPr>
          <a:xfrm>
            <a:off x="838200" y="1825625"/>
            <a:ext cx="52578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Series of steps programmers use to build computer programs</a:t>
            </a:r>
            <a:endParaRPr/>
          </a:p>
          <a:p>
            <a:pPr marL="228600" lvl="0" indent="-228600" algn="l" rtl="0">
              <a:lnSpc>
                <a:spcPct val="90000"/>
              </a:lnSpc>
              <a:spcBef>
                <a:spcPts val="1000"/>
              </a:spcBef>
              <a:spcAft>
                <a:spcPts val="0"/>
              </a:spcAft>
              <a:buClr>
                <a:schemeClr val="dk1"/>
              </a:buClr>
              <a:buSzPts val="2800"/>
              <a:buChar char="•"/>
            </a:pPr>
            <a:r>
              <a:rPr lang="en-US"/>
              <a:t>Steps of PDLC are:</a:t>
            </a:r>
            <a:endParaRPr/>
          </a:p>
          <a:p>
            <a:pPr marL="914400" lvl="1" indent="-457200" algn="l" rtl="0">
              <a:lnSpc>
                <a:spcPct val="90000"/>
              </a:lnSpc>
              <a:spcBef>
                <a:spcPts val="500"/>
              </a:spcBef>
              <a:spcAft>
                <a:spcPts val="0"/>
              </a:spcAft>
              <a:buClr>
                <a:schemeClr val="dk1"/>
              </a:buClr>
              <a:buSzPts val="2400"/>
              <a:buFont typeface="Calibri"/>
              <a:buAutoNum type="arabicPeriod"/>
            </a:pPr>
            <a:r>
              <a:rPr lang="en-US"/>
              <a:t>Problem Definition</a:t>
            </a:r>
            <a:endParaRPr/>
          </a:p>
          <a:p>
            <a:pPr marL="914400" lvl="1" indent="-457200" algn="l" rtl="0">
              <a:lnSpc>
                <a:spcPct val="90000"/>
              </a:lnSpc>
              <a:spcBef>
                <a:spcPts val="500"/>
              </a:spcBef>
              <a:spcAft>
                <a:spcPts val="0"/>
              </a:spcAft>
              <a:buClr>
                <a:schemeClr val="dk1"/>
              </a:buClr>
              <a:buSzPts val="2400"/>
              <a:buFont typeface="Calibri"/>
              <a:buAutoNum type="arabicPeriod"/>
            </a:pPr>
            <a:r>
              <a:rPr lang="en-US"/>
              <a:t>Problem Analysis</a:t>
            </a:r>
            <a:endParaRPr/>
          </a:p>
          <a:p>
            <a:pPr marL="914400" lvl="1" indent="-457200" algn="l" rtl="0">
              <a:lnSpc>
                <a:spcPct val="90000"/>
              </a:lnSpc>
              <a:spcBef>
                <a:spcPts val="500"/>
              </a:spcBef>
              <a:spcAft>
                <a:spcPts val="0"/>
              </a:spcAft>
              <a:buClr>
                <a:schemeClr val="dk1"/>
              </a:buClr>
              <a:buSzPts val="2400"/>
              <a:buFont typeface="Calibri"/>
              <a:buAutoNum type="arabicPeriod"/>
            </a:pPr>
            <a:r>
              <a:rPr lang="en-US"/>
              <a:t>Algorithm Development</a:t>
            </a:r>
            <a:endParaRPr/>
          </a:p>
          <a:p>
            <a:pPr marL="914400" lvl="1" indent="-457200" algn="l" rtl="0">
              <a:lnSpc>
                <a:spcPct val="90000"/>
              </a:lnSpc>
              <a:spcBef>
                <a:spcPts val="500"/>
              </a:spcBef>
              <a:spcAft>
                <a:spcPts val="0"/>
              </a:spcAft>
              <a:buClr>
                <a:schemeClr val="dk1"/>
              </a:buClr>
              <a:buSzPts val="2400"/>
              <a:buFont typeface="Calibri"/>
              <a:buAutoNum type="arabicPeriod"/>
            </a:pPr>
            <a:r>
              <a:rPr lang="en-US"/>
              <a:t>Coding &amp; Documentation</a:t>
            </a:r>
            <a:endParaRPr/>
          </a:p>
          <a:p>
            <a:pPr marL="914400" lvl="1" indent="-457200" algn="l" rtl="0">
              <a:lnSpc>
                <a:spcPct val="90000"/>
              </a:lnSpc>
              <a:spcBef>
                <a:spcPts val="500"/>
              </a:spcBef>
              <a:spcAft>
                <a:spcPts val="0"/>
              </a:spcAft>
              <a:buClr>
                <a:schemeClr val="dk1"/>
              </a:buClr>
              <a:buSzPts val="2400"/>
              <a:buFont typeface="Calibri"/>
              <a:buAutoNum type="arabicPeriod"/>
            </a:pPr>
            <a:r>
              <a:rPr lang="en-US"/>
              <a:t>Testing the Solution</a:t>
            </a:r>
            <a:endParaRPr/>
          </a:p>
          <a:p>
            <a:pPr marL="914400" lvl="1" indent="-457200" algn="l" rtl="0">
              <a:lnSpc>
                <a:spcPct val="90000"/>
              </a:lnSpc>
              <a:spcBef>
                <a:spcPts val="500"/>
              </a:spcBef>
              <a:spcAft>
                <a:spcPts val="0"/>
              </a:spcAft>
              <a:buClr>
                <a:schemeClr val="dk1"/>
              </a:buClr>
              <a:buSzPts val="2400"/>
              <a:buFont typeface="Calibri"/>
              <a:buAutoNum type="arabicPeriod"/>
            </a:pPr>
            <a:r>
              <a:rPr lang="en-US"/>
              <a:t>Maintenance</a:t>
            </a:r>
            <a:endParaRPr/>
          </a:p>
        </p:txBody>
      </p:sp>
      <p:sp>
        <p:nvSpPr>
          <p:cNvPr id="106" name="Google Shape;10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07" name="Google Shape;10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108" name="Google Shape;108;p3"/>
          <p:cNvPicPr preferRelativeResize="0"/>
          <p:nvPr/>
        </p:nvPicPr>
        <p:blipFill rotWithShape="1">
          <a:blip r:embed="rId3">
            <a:alphaModFix/>
          </a:blip>
          <a:srcRect/>
          <a:stretch/>
        </p:blipFill>
        <p:spPr>
          <a:xfrm>
            <a:off x="6115920" y="1353557"/>
            <a:ext cx="5848350" cy="50737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PDLC Phases</a:t>
            </a:r>
            <a:endParaRPr>
              <a:solidFill>
                <a:srgbClr val="0070C0"/>
              </a:solidFill>
            </a:endParaRPr>
          </a:p>
        </p:txBody>
      </p:sp>
      <p:sp>
        <p:nvSpPr>
          <p:cNvPr id="114" name="Google Shape;11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rgbClr val="0070C0"/>
              </a:buClr>
              <a:buSzPts val="2800"/>
              <a:buFont typeface="Calibri"/>
              <a:buAutoNum type="arabicPeriod"/>
            </a:pPr>
            <a:r>
              <a:rPr lang="en-US" u="sng">
                <a:solidFill>
                  <a:srgbClr val="0070C0"/>
                </a:solidFill>
              </a:rPr>
              <a:t>Problem Definition</a:t>
            </a:r>
            <a:endParaRPr/>
          </a:p>
          <a:p>
            <a:pPr marL="685800" lvl="1" indent="-228600" algn="l" rtl="0">
              <a:lnSpc>
                <a:spcPct val="90000"/>
              </a:lnSpc>
              <a:spcBef>
                <a:spcPts val="500"/>
              </a:spcBef>
              <a:spcAft>
                <a:spcPts val="0"/>
              </a:spcAft>
              <a:buClr>
                <a:schemeClr val="dk1"/>
              </a:buClr>
              <a:buSzPts val="2400"/>
              <a:buChar char="•"/>
            </a:pPr>
            <a:r>
              <a:rPr lang="en-US"/>
              <a:t>Define the problem statement </a:t>
            </a:r>
            <a:endParaRPr/>
          </a:p>
          <a:p>
            <a:pPr marL="685800" lvl="1" indent="-228600" algn="l" rtl="0">
              <a:lnSpc>
                <a:spcPct val="90000"/>
              </a:lnSpc>
              <a:spcBef>
                <a:spcPts val="500"/>
              </a:spcBef>
              <a:spcAft>
                <a:spcPts val="0"/>
              </a:spcAft>
              <a:buClr>
                <a:schemeClr val="dk1"/>
              </a:buClr>
              <a:buSzPts val="2400"/>
              <a:buChar char="•"/>
            </a:pPr>
            <a:r>
              <a:rPr lang="en-US"/>
              <a:t>Decide the boundaries of the problem</a:t>
            </a:r>
            <a:endParaRPr/>
          </a:p>
          <a:p>
            <a:pPr marL="685800" lvl="1" indent="-228600" algn="l" rtl="0">
              <a:lnSpc>
                <a:spcPct val="90000"/>
              </a:lnSpc>
              <a:spcBef>
                <a:spcPts val="500"/>
              </a:spcBef>
              <a:spcAft>
                <a:spcPts val="0"/>
              </a:spcAft>
              <a:buClr>
                <a:schemeClr val="dk1"/>
              </a:buClr>
              <a:buSzPts val="2400"/>
              <a:buChar char="•"/>
            </a:pPr>
            <a:r>
              <a:rPr lang="en-US"/>
              <a:t>Understand the problem statement</a:t>
            </a:r>
            <a:endParaRPr/>
          </a:p>
          <a:p>
            <a:pPr marL="685800" lvl="1" indent="-228600" algn="l" rtl="0">
              <a:lnSpc>
                <a:spcPct val="90000"/>
              </a:lnSpc>
              <a:spcBef>
                <a:spcPts val="500"/>
              </a:spcBef>
              <a:spcAft>
                <a:spcPts val="0"/>
              </a:spcAft>
              <a:buClr>
                <a:schemeClr val="dk1"/>
              </a:buClr>
              <a:buSzPts val="2400"/>
              <a:buChar char="•"/>
            </a:pPr>
            <a:r>
              <a:rPr lang="en-US"/>
              <a:t>Understand what are the requirements</a:t>
            </a:r>
            <a:endParaRPr/>
          </a:p>
          <a:p>
            <a:pPr marL="685800" lvl="1" indent="-228600" algn="l" rtl="0">
              <a:lnSpc>
                <a:spcPct val="90000"/>
              </a:lnSpc>
              <a:spcBef>
                <a:spcPts val="500"/>
              </a:spcBef>
              <a:spcAft>
                <a:spcPts val="0"/>
              </a:spcAft>
              <a:buClr>
                <a:schemeClr val="dk1"/>
              </a:buClr>
              <a:buSzPts val="2400"/>
              <a:buChar char="•"/>
            </a:pPr>
            <a:r>
              <a:rPr lang="en-US"/>
              <a:t>Understand what is the output expected of the problem solution</a:t>
            </a:r>
            <a:endParaRPr u="sng">
              <a:solidFill>
                <a:srgbClr val="0070C0"/>
              </a:solidFill>
            </a:endParaRPr>
          </a:p>
          <a:p>
            <a:pPr marL="514350" lvl="0" indent="-514350" algn="l" rtl="0">
              <a:lnSpc>
                <a:spcPct val="90000"/>
              </a:lnSpc>
              <a:spcBef>
                <a:spcPts val="1000"/>
              </a:spcBef>
              <a:spcAft>
                <a:spcPts val="0"/>
              </a:spcAft>
              <a:buClr>
                <a:srgbClr val="0070C0"/>
              </a:buClr>
              <a:buSzPts val="2800"/>
              <a:buFont typeface="Calibri"/>
              <a:buAutoNum type="arabicPeriod"/>
            </a:pPr>
            <a:r>
              <a:rPr lang="en-US" u="sng">
                <a:solidFill>
                  <a:srgbClr val="0070C0"/>
                </a:solidFill>
              </a:rPr>
              <a:t>Problem Analysis</a:t>
            </a:r>
            <a:endParaRPr/>
          </a:p>
          <a:p>
            <a:pPr marL="685800" lvl="1" indent="-228600" algn="l" rtl="0">
              <a:lnSpc>
                <a:spcPct val="90000"/>
              </a:lnSpc>
              <a:spcBef>
                <a:spcPts val="500"/>
              </a:spcBef>
              <a:spcAft>
                <a:spcPts val="0"/>
              </a:spcAft>
              <a:buClr>
                <a:schemeClr val="dk1"/>
              </a:buClr>
              <a:buSzPts val="2400"/>
              <a:buChar char="•"/>
            </a:pPr>
            <a:r>
              <a:rPr lang="en-US"/>
              <a:t>Determine the requirements like variables, functions, etc. </a:t>
            </a:r>
            <a:endParaRPr/>
          </a:p>
          <a:p>
            <a:pPr marL="685800" lvl="1" indent="-228600" algn="l" rtl="0">
              <a:lnSpc>
                <a:spcPct val="90000"/>
              </a:lnSpc>
              <a:spcBef>
                <a:spcPts val="500"/>
              </a:spcBef>
              <a:spcAft>
                <a:spcPts val="0"/>
              </a:spcAft>
              <a:buClr>
                <a:schemeClr val="dk1"/>
              </a:buClr>
              <a:buSzPts val="2400"/>
              <a:buChar char="•"/>
            </a:pPr>
            <a:r>
              <a:rPr lang="en-US"/>
              <a:t>Determine the resources required to solve the problem </a:t>
            </a:r>
            <a:endParaRPr/>
          </a:p>
          <a:p>
            <a:pPr marL="685800" lvl="1" indent="-228600" algn="l" rtl="0">
              <a:lnSpc>
                <a:spcPct val="90000"/>
              </a:lnSpc>
              <a:spcBef>
                <a:spcPts val="500"/>
              </a:spcBef>
              <a:spcAft>
                <a:spcPts val="0"/>
              </a:spcAft>
              <a:buClr>
                <a:schemeClr val="dk1"/>
              </a:buClr>
              <a:buSzPts val="2400"/>
              <a:buChar char="•"/>
            </a:pPr>
            <a:r>
              <a:rPr lang="en-US"/>
              <a:t>Determine the limitations of the solution</a:t>
            </a:r>
            <a:endParaRPr/>
          </a:p>
        </p:txBody>
      </p:sp>
      <p:sp>
        <p:nvSpPr>
          <p:cNvPr id="115" name="Google Shape;11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16" name="Google Shape;11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PDLC Phases</a:t>
            </a:r>
            <a:endParaRPr/>
          </a:p>
        </p:txBody>
      </p:sp>
      <p:sp>
        <p:nvSpPr>
          <p:cNvPr id="122" name="Google Shape;122;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514350" lvl="0" indent="-514350" algn="l" rtl="0">
              <a:lnSpc>
                <a:spcPct val="90000"/>
              </a:lnSpc>
              <a:spcBef>
                <a:spcPts val="0"/>
              </a:spcBef>
              <a:spcAft>
                <a:spcPts val="0"/>
              </a:spcAft>
              <a:buClr>
                <a:srgbClr val="0070C0"/>
              </a:buClr>
              <a:buSzPts val="2800"/>
              <a:buFont typeface="Calibri"/>
              <a:buAutoNum type="arabicPeriod" startAt="3"/>
            </a:pPr>
            <a:r>
              <a:rPr lang="en-US" u="sng">
                <a:solidFill>
                  <a:srgbClr val="0070C0"/>
                </a:solidFill>
              </a:rPr>
              <a:t>Algorithm Development</a:t>
            </a:r>
            <a:endParaRPr/>
          </a:p>
          <a:p>
            <a:pPr marL="685800" lvl="1" indent="-228600" algn="l" rtl="0">
              <a:lnSpc>
                <a:spcPct val="90000"/>
              </a:lnSpc>
              <a:spcBef>
                <a:spcPts val="500"/>
              </a:spcBef>
              <a:spcAft>
                <a:spcPts val="0"/>
              </a:spcAft>
              <a:buClr>
                <a:schemeClr val="dk1"/>
              </a:buClr>
              <a:buSzPts val="2400"/>
              <a:buChar char="•"/>
            </a:pPr>
            <a:r>
              <a:rPr lang="en-US"/>
              <a:t>Develop a step by step procedure to solve the problem using the specification given in the previous phase - writing the solution in step by step statements</a:t>
            </a:r>
            <a:endParaRPr/>
          </a:p>
          <a:p>
            <a:pPr marL="514350" lvl="0" indent="-514350" algn="l" rtl="0">
              <a:lnSpc>
                <a:spcPct val="90000"/>
              </a:lnSpc>
              <a:spcBef>
                <a:spcPts val="1000"/>
              </a:spcBef>
              <a:spcAft>
                <a:spcPts val="0"/>
              </a:spcAft>
              <a:buClr>
                <a:srgbClr val="0070C0"/>
              </a:buClr>
              <a:buSzPts val="2800"/>
              <a:buFont typeface="Calibri"/>
              <a:buAutoNum type="arabicPeriod" startAt="3"/>
            </a:pPr>
            <a:r>
              <a:rPr lang="en-US" u="sng">
                <a:solidFill>
                  <a:srgbClr val="0070C0"/>
                </a:solidFill>
              </a:rPr>
              <a:t>Coding &amp; Documentation</a:t>
            </a:r>
            <a:endParaRPr/>
          </a:p>
          <a:p>
            <a:pPr marL="685800" lvl="1" indent="-228600" algn="l" rtl="0">
              <a:lnSpc>
                <a:spcPct val="90000"/>
              </a:lnSpc>
              <a:spcBef>
                <a:spcPts val="500"/>
              </a:spcBef>
              <a:spcAft>
                <a:spcPts val="0"/>
              </a:spcAft>
              <a:buClr>
                <a:schemeClr val="dk1"/>
              </a:buClr>
              <a:buSzPts val="2400"/>
              <a:buChar char="•"/>
            </a:pPr>
            <a:r>
              <a:rPr lang="en-US"/>
              <a:t>Using a programming language implement steps defined in the previous phase - constructing actual program</a:t>
            </a:r>
            <a:endParaRPr/>
          </a:p>
          <a:p>
            <a:pPr marL="514350" lvl="0" indent="-514350" algn="l" rtl="0">
              <a:lnSpc>
                <a:spcPct val="90000"/>
              </a:lnSpc>
              <a:spcBef>
                <a:spcPts val="1000"/>
              </a:spcBef>
              <a:spcAft>
                <a:spcPts val="0"/>
              </a:spcAft>
              <a:buClr>
                <a:srgbClr val="0070C0"/>
              </a:buClr>
              <a:buSzPts val="2800"/>
              <a:buFont typeface="Calibri"/>
              <a:buAutoNum type="arabicPeriod" startAt="3"/>
            </a:pPr>
            <a:r>
              <a:rPr lang="en-US" u="sng">
                <a:solidFill>
                  <a:srgbClr val="0070C0"/>
                </a:solidFill>
              </a:rPr>
              <a:t>Testing the Solution</a:t>
            </a:r>
            <a:endParaRPr/>
          </a:p>
          <a:p>
            <a:pPr marL="685800" lvl="1" indent="-228600" algn="l" rtl="0">
              <a:lnSpc>
                <a:spcPct val="90000"/>
              </a:lnSpc>
              <a:spcBef>
                <a:spcPts val="500"/>
              </a:spcBef>
              <a:spcAft>
                <a:spcPts val="0"/>
              </a:spcAft>
              <a:buClr>
                <a:schemeClr val="dk1"/>
              </a:buClr>
              <a:buSzPts val="2400"/>
              <a:buChar char="•"/>
            </a:pPr>
            <a:r>
              <a:rPr lang="en-US"/>
              <a:t>Check whether the code written in previous step is solving the specified problem or not </a:t>
            </a:r>
            <a:endParaRPr/>
          </a:p>
          <a:p>
            <a:pPr marL="685800" lvl="1" indent="-228600" algn="l" rtl="0">
              <a:lnSpc>
                <a:spcPct val="90000"/>
              </a:lnSpc>
              <a:spcBef>
                <a:spcPts val="500"/>
              </a:spcBef>
              <a:spcAft>
                <a:spcPts val="0"/>
              </a:spcAft>
              <a:buClr>
                <a:schemeClr val="dk1"/>
              </a:buClr>
              <a:buSzPts val="2400"/>
              <a:buChar char="•"/>
            </a:pPr>
            <a:r>
              <a:rPr lang="en-US"/>
              <a:t>Testing the program whether it is solving the problem for various input data values or not</a:t>
            </a:r>
            <a:endParaRPr/>
          </a:p>
          <a:p>
            <a:pPr marL="228600" lvl="0" indent="-50800" algn="l" rtl="0">
              <a:lnSpc>
                <a:spcPct val="90000"/>
              </a:lnSpc>
              <a:spcBef>
                <a:spcPts val="1000"/>
              </a:spcBef>
              <a:spcAft>
                <a:spcPts val="0"/>
              </a:spcAft>
              <a:buClr>
                <a:schemeClr val="dk1"/>
              </a:buClr>
              <a:buSzPts val="2800"/>
              <a:buNone/>
            </a:pPr>
            <a:endParaRPr u="sng">
              <a:solidFill>
                <a:srgbClr val="0070C0"/>
              </a:solidFill>
            </a:endParaRPr>
          </a:p>
          <a:p>
            <a:pPr marL="228600" lvl="0" indent="-50800" algn="l" rtl="0">
              <a:lnSpc>
                <a:spcPct val="90000"/>
              </a:lnSpc>
              <a:spcBef>
                <a:spcPts val="1000"/>
              </a:spcBef>
              <a:spcAft>
                <a:spcPts val="0"/>
              </a:spcAft>
              <a:buClr>
                <a:schemeClr val="dk1"/>
              </a:buClr>
              <a:buSzPts val="2800"/>
              <a:buNone/>
            </a:pPr>
            <a:endParaRPr u="sng">
              <a:solidFill>
                <a:srgbClr val="0070C0"/>
              </a:solidFill>
            </a:endParaRPr>
          </a:p>
          <a:p>
            <a:pPr marL="228600" lvl="0" indent="-50800" algn="l" rtl="0">
              <a:lnSpc>
                <a:spcPct val="90000"/>
              </a:lnSpc>
              <a:spcBef>
                <a:spcPts val="1000"/>
              </a:spcBef>
              <a:spcAft>
                <a:spcPts val="0"/>
              </a:spcAft>
              <a:buClr>
                <a:schemeClr val="dk1"/>
              </a:buClr>
              <a:buSzPts val="2800"/>
              <a:buNone/>
            </a:pPr>
            <a:endParaRPr/>
          </a:p>
        </p:txBody>
      </p:sp>
      <p:sp>
        <p:nvSpPr>
          <p:cNvPr id="123" name="Google Shape;12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24" name="Google Shape;12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PDLC Phases</a:t>
            </a:r>
            <a:endParaRPr/>
          </a:p>
        </p:txBody>
      </p:sp>
      <p:sp>
        <p:nvSpPr>
          <p:cNvPr id="130" name="Google Shape;130;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rgbClr val="0070C0"/>
              </a:buClr>
              <a:buSzPts val="2800"/>
              <a:buFont typeface="Calibri"/>
              <a:buAutoNum type="arabicPeriod" startAt="6"/>
            </a:pPr>
            <a:r>
              <a:rPr lang="en-US" u="sng">
                <a:solidFill>
                  <a:srgbClr val="0070C0"/>
                </a:solidFill>
              </a:rPr>
              <a:t>Maintenance</a:t>
            </a:r>
            <a:endParaRPr/>
          </a:p>
          <a:p>
            <a:pPr marL="685800" lvl="1" indent="-228600" algn="l" rtl="0">
              <a:lnSpc>
                <a:spcPct val="90000"/>
              </a:lnSpc>
              <a:spcBef>
                <a:spcPts val="500"/>
              </a:spcBef>
              <a:spcAft>
                <a:spcPts val="0"/>
              </a:spcAft>
              <a:buClr>
                <a:schemeClr val="dk1"/>
              </a:buClr>
              <a:buSzPts val="2400"/>
              <a:buChar char="•"/>
            </a:pPr>
            <a:r>
              <a:rPr lang="en-US"/>
              <a:t>Program is actively used by the users if any enhancements found in this phase, all the phases are to be repeated again to make the enhancements, so that the encountered problem is solved or enhancement is added. </a:t>
            </a:r>
            <a:endParaRPr/>
          </a:p>
        </p:txBody>
      </p:sp>
      <p:sp>
        <p:nvSpPr>
          <p:cNvPr id="131" name="Google Shape;1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32" name="Google Shape;1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Algorithm</a:t>
            </a:r>
            <a:endParaRPr>
              <a:solidFill>
                <a:srgbClr val="0070C0"/>
              </a:solidFill>
            </a:endParaRPr>
          </a:p>
        </p:txBody>
      </p:sp>
      <p:sp>
        <p:nvSpPr>
          <p:cNvPr id="138" name="Google Shape;138;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Sequence of steps to be performed in order to solve a problem</a:t>
            </a:r>
            <a:endParaRPr/>
          </a:p>
          <a:p>
            <a:pPr marL="228600" lvl="0" indent="-228600" algn="l" rtl="0">
              <a:lnSpc>
                <a:spcPct val="90000"/>
              </a:lnSpc>
              <a:spcBef>
                <a:spcPts val="1000"/>
              </a:spcBef>
              <a:spcAft>
                <a:spcPts val="0"/>
              </a:spcAft>
              <a:buClr>
                <a:schemeClr val="dk1"/>
              </a:buClr>
              <a:buSzPct val="100000"/>
              <a:buChar char="•"/>
            </a:pPr>
            <a:r>
              <a:rPr lang="en-US"/>
              <a:t>Characteristics of an algorithm:</a:t>
            </a:r>
            <a:endParaRPr/>
          </a:p>
          <a:p>
            <a:pPr marL="685800" lvl="1" indent="-228600" algn="l" rtl="0">
              <a:lnSpc>
                <a:spcPct val="90000"/>
              </a:lnSpc>
              <a:spcBef>
                <a:spcPts val="500"/>
              </a:spcBef>
              <a:spcAft>
                <a:spcPts val="0"/>
              </a:spcAft>
              <a:buClr>
                <a:srgbClr val="0070C0"/>
              </a:buClr>
              <a:buSzPct val="100000"/>
              <a:buChar char="•"/>
            </a:pPr>
            <a:r>
              <a:rPr lang="en-US" i="1">
                <a:solidFill>
                  <a:srgbClr val="0070C0"/>
                </a:solidFill>
              </a:rPr>
              <a:t>Well-ordered</a:t>
            </a:r>
            <a:r>
              <a:rPr lang="en-US" i="1"/>
              <a:t>: the steps are in a clear order</a:t>
            </a:r>
            <a:endParaRPr/>
          </a:p>
          <a:p>
            <a:pPr marL="685800" lvl="1" indent="-228600" algn="l" rtl="0">
              <a:lnSpc>
                <a:spcPct val="90000"/>
              </a:lnSpc>
              <a:spcBef>
                <a:spcPts val="500"/>
              </a:spcBef>
              <a:spcAft>
                <a:spcPts val="0"/>
              </a:spcAft>
              <a:buClr>
                <a:srgbClr val="0070C0"/>
              </a:buClr>
              <a:buSzPct val="100000"/>
              <a:buChar char="•"/>
            </a:pPr>
            <a:r>
              <a:rPr lang="en-US" i="1">
                <a:solidFill>
                  <a:srgbClr val="0070C0"/>
                </a:solidFill>
              </a:rPr>
              <a:t>Unambiguous</a:t>
            </a:r>
            <a:r>
              <a:rPr lang="en-US" i="1"/>
              <a:t>: the operations described are understood by a programmer without further simplification </a:t>
            </a:r>
            <a:endParaRPr i="1"/>
          </a:p>
          <a:p>
            <a:pPr marL="685800" lvl="1" indent="-228600" algn="l" rtl="0">
              <a:lnSpc>
                <a:spcPct val="90000"/>
              </a:lnSpc>
              <a:spcBef>
                <a:spcPts val="500"/>
              </a:spcBef>
              <a:spcAft>
                <a:spcPts val="0"/>
              </a:spcAft>
              <a:buClr>
                <a:srgbClr val="0070C0"/>
              </a:buClr>
              <a:buSzPct val="100000"/>
              <a:buChar char="•"/>
            </a:pPr>
            <a:r>
              <a:rPr lang="en-US" i="1">
                <a:solidFill>
                  <a:srgbClr val="0070C0"/>
                </a:solidFill>
              </a:rPr>
              <a:t>Effectively computable</a:t>
            </a:r>
            <a:r>
              <a:rPr lang="en-US" i="1"/>
              <a:t>: the programmer can actually carry out the operation  </a:t>
            </a:r>
            <a:endParaRPr/>
          </a:p>
          <a:p>
            <a:pPr marL="228600" lvl="0" indent="-228600" algn="l" rtl="0">
              <a:lnSpc>
                <a:spcPct val="90000"/>
              </a:lnSpc>
              <a:spcBef>
                <a:spcPts val="1000"/>
              </a:spcBef>
              <a:spcAft>
                <a:spcPts val="0"/>
              </a:spcAft>
              <a:buClr>
                <a:schemeClr val="dk1"/>
              </a:buClr>
              <a:buSzPct val="100000"/>
              <a:buChar char="•"/>
            </a:pPr>
            <a:r>
              <a:rPr lang="en-US"/>
              <a:t>Can be expressed in many different notations, including </a:t>
            </a:r>
            <a:r>
              <a:rPr lang="en-US" u="sng">
                <a:solidFill>
                  <a:srgbClr val="0070C0"/>
                </a:solidFill>
              </a:rPr>
              <a:t>natural language</a:t>
            </a:r>
            <a:r>
              <a:rPr lang="en-US">
                <a:solidFill>
                  <a:srgbClr val="0070C0"/>
                </a:solidFill>
              </a:rPr>
              <a:t>, </a:t>
            </a:r>
            <a:r>
              <a:rPr lang="en-US" u="sng">
                <a:solidFill>
                  <a:srgbClr val="0070C0"/>
                </a:solidFill>
              </a:rPr>
              <a:t>pseudocode</a:t>
            </a:r>
            <a:r>
              <a:rPr lang="en-US">
                <a:solidFill>
                  <a:srgbClr val="0070C0"/>
                </a:solidFill>
              </a:rPr>
              <a:t>, </a:t>
            </a:r>
            <a:r>
              <a:rPr lang="en-US" u="sng">
                <a:solidFill>
                  <a:srgbClr val="0070C0"/>
                </a:solidFill>
              </a:rPr>
              <a:t>flowcharts</a:t>
            </a:r>
            <a:endParaRPr/>
          </a:p>
          <a:p>
            <a:pPr marL="228600" lvl="0" indent="-228600" algn="l" rtl="0">
              <a:lnSpc>
                <a:spcPct val="90000"/>
              </a:lnSpc>
              <a:spcBef>
                <a:spcPts val="1000"/>
              </a:spcBef>
              <a:spcAft>
                <a:spcPts val="0"/>
              </a:spcAft>
              <a:buClr>
                <a:schemeClr val="dk1"/>
              </a:buClr>
              <a:buSzPct val="100000"/>
              <a:buChar char="•"/>
            </a:pPr>
            <a:r>
              <a:rPr lang="en-US"/>
              <a:t>Algorithms are </a:t>
            </a:r>
            <a:r>
              <a:rPr lang="en-US" b="1">
                <a:solidFill>
                  <a:srgbClr val="0070C0"/>
                </a:solidFill>
              </a:rPr>
              <a:t>theoretical study </a:t>
            </a:r>
            <a:r>
              <a:rPr lang="en-US"/>
              <a:t>of computer program performance and resource usage and practiced abstractly </a:t>
            </a:r>
            <a:r>
              <a:rPr lang="en-US" b="1">
                <a:solidFill>
                  <a:srgbClr val="0070C0"/>
                </a:solidFill>
              </a:rPr>
              <a:t>without the use of </a:t>
            </a:r>
            <a:r>
              <a:rPr lang="en-US"/>
              <a:t>specific </a:t>
            </a:r>
            <a:r>
              <a:rPr lang="en-US" b="1">
                <a:solidFill>
                  <a:srgbClr val="0070C0"/>
                </a:solidFill>
              </a:rPr>
              <a:t>programming language </a:t>
            </a:r>
            <a:r>
              <a:rPr lang="en-US"/>
              <a:t>or implementation</a:t>
            </a:r>
            <a:endParaRPr/>
          </a:p>
        </p:txBody>
      </p:sp>
      <p:sp>
        <p:nvSpPr>
          <p:cNvPr id="139" name="Google Shape;13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40" name="Google Shape;14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Significance of Algorithms </a:t>
            </a:r>
            <a:endParaRPr>
              <a:solidFill>
                <a:srgbClr val="0070C0"/>
              </a:solidFill>
            </a:endParaRPr>
          </a:p>
        </p:txBody>
      </p:sp>
      <p:sp>
        <p:nvSpPr>
          <p:cNvPr id="146" name="Google Shape;146;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Algorithm analysis enable programmer to predict the performance of different algorithms in order to guide program design decisions.</a:t>
            </a:r>
            <a:endParaRPr/>
          </a:p>
          <a:p>
            <a:pPr marL="228600" lvl="0" indent="-228600" algn="l" rtl="0">
              <a:lnSpc>
                <a:spcPct val="90000"/>
              </a:lnSpc>
              <a:spcBef>
                <a:spcPts val="1000"/>
              </a:spcBef>
              <a:spcAft>
                <a:spcPts val="0"/>
              </a:spcAft>
              <a:buClr>
                <a:schemeClr val="dk1"/>
              </a:buClr>
              <a:buSzPts val="2800"/>
              <a:buChar char="•"/>
            </a:pPr>
            <a:r>
              <a:rPr lang="en-US"/>
              <a:t>Most algorithms do not perform the same in all cases; normally an algorithm’s performance varies with the data passed to it.</a:t>
            </a:r>
            <a:endParaRPr/>
          </a:p>
          <a:p>
            <a:pPr marL="228600" lvl="0" indent="-228600" algn="l" rtl="0">
              <a:lnSpc>
                <a:spcPct val="90000"/>
              </a:lnSpc>
              <a:spcBef>
                <a:spcPts val="1000"/>
              </a:spcBef>
              <a:spcAft>
                <a:spcPts val="0"/>
              </a:spcAft>
              <a:buClr>
                <a:schemeClr val="dk1"/>
              </a:buClr>
              <a:buSzPts val="2800"/>
              <a:buChar char="•"/>
            </a:pPr>
            <a:r>
              <a:rPr lang="en-US"/>
              <a:t>Typically, three cases are recognized: </a:t>
            </a:r>
            <a:endParaRPr/>
          </a:p>
          <a:p>
            <a:pPr marL="685800" lvl="1" indent="-228600" algn="l" rtl="0">
              <a:lnSpc>
                <a:spcPct val="90000"/>
              </a:lnSpc>
              <a:spcBef>
                <a:spcPts val="500"/>
              </a:spcBef>
              <a:spcAft>
                <a:spcPts val="0"/>
              </a:spcAft>
              <a:buClr>
                <a:schemeClr val="dk1"/>
              </a:buClr>
              <a:buSzPts val="2400"/>
              <a:buChar char="•"/>
            </a:pPr>
            <a:r>
              <a:rPr lang="en-US"/>
              <a:t>the best case, </a:t>
            </a:r>
            <a:endParaRPr/>
          </a:p>
          <a:p>
            <a:pPr marL="685800" lvl="1" indent="-228600" algn="l" rtl="0">
              <a:lnSpc>
                <a:spcPct val="90000"/>
              </a:lnSpc>
              <a:spcBef>
                <a:spcPts val="500"/>
              </a:spcBef>
              <a:spcAft>
                <a:spcPts val="0"/>
              </a:spcAft>
              <a:buClr>
                <a:schemeClr val="dk1"/>
              </a:buClr>
              <a:buSzPts val="2400"/>
              <a:buChar char="•"/>
            </a:pPr>
            <a:r>
              <a:rPr lang="en-US"/>
              <a:t>average case and </a:t>
            </a:r>
            <a:endParaRPr/>
          </a:p>
          <a:p>
            <a:pPr marL="685800" lvl="1" indent="-228600" algn="l" rtl="0">
              <a:lnSpc>
                <a:spcPct val="90000"/>
              </a:lnSpc>
              <a:spcBef>
                <a:spcPts val="500"/>
              </a:spcBef>
              <a:spcAft>
                <a:spcPts val="0"/>
              </a:spcAft>
              <a:buClr>
                <a:schemeClr val="dk1"/>
              </a:buClr>
              <a:buSzPts val="2400"/>
              <a:buChar char="•"/>
            </a:pPr>
            <a:r>
              <a:rPr lang="en-US"/>
              <a:t>worst case.</a:t>
            </a:r>
            <a:endParaRPr/>
          </a:p>
        </p:txBody>
      </p:sp>
      <p:sp>
        <p:nvSpPr>
          <p:cNvPr id="147" name="Google Shape;14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48" name="Google Shape;14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Writing algorithm…</a:t>
            </a:r>
            <a:endParaRPr>
              <a:solidFill>
                <a:srgbClr val="0070C0"/>
              </a:solidFill>
            </a:endParaRPr>
          </a:p>
        </p:txBody>
      </p:sp>
      <p:sp>
        <p:nvSpPr>
          <p:cNvPr id="154" name="Google Shape;154;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Font typeface="Calibri"/>
              <a:buAutoNum type="arabicPeriod"/>
            </a:pPr>
            <a:r>
              <a:rPr lang="en-US"/>
              <a:t>Define the problem</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List the inputs (information to solve the problem) and the outputs (what is the expected solution)</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Describe the steps needed to convert or manipulate the input to produce output </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Test the algorithm</a:t>
            </a:r>
            <a:endParaRPr/>
          </a:p>
        </p:txBody>
      </p:sp>
      <p:sp>
        <p:nvSpPr>
          <p:cNvPr id="155" name="Google Shape;15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56" name="Google Shape;15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Control Structures</a:t>
            </a:r>
            <a:endParaRPr>
              <a:solidFill>
                <a:srgbClr val="0070C0"/>
              </a:solidFill>
            </a:endParaRPr>
          </a:p>
        </p:txBody>
      </p:sp>
      <p:sp>
        <p:nvSpPr>
          <p:cNvPr id="162" name="Google Shape;162;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All programs could be written using three control structures:</a:t>
            </a:r>
            <a:endParaRPr/>
          </a:p>
          <a:p>
            <a:pPr marL="914400" lvl="1" indent="-457200" algn="l" rtl="0">
              <a:lnSpc>
                <a:spcPct val="90000"/>
              </a:lnSpc>
              <a:spcBef>
                <a:spcPts val="500"/>
              </a:spcBef>
              <a:spcAft>
                <a:spcPts val="0"/>
              </a:spcAft>
              <a:buClr>
                <a:schemeClr val="dk1"/>
              </a:buClr>
              <a:buSzPts val="2400"/>
              <a:buFont typeface="Calibri"/>
              <a:buAutoNum type="arabicPeriod"/>
            </a:pPr>
            <a:r>
              <a:rPr lang="en-US"/>
              <a:t>Sequence</a:t>
            </a:r>
            <a:endParaRPr/>
          </a:p>
          <a:p>
            <a:pPr marL="1143000" lvl="2" indent="-228600" algn="l" rtl="0">
              <a:lnSpc>
                <a:spcPct val="90000"/>
              </a:lnSpc>
              <a:spcBef>
                <a:spcPts val="500"/>
              </a:spcBef>
              <a:spcAft>
                <a:spcPts val="0"/>
              </a:spcAft>
              <a:buClr>
                <a:schemeClr val="dk1"/>
              </a:buClr>
              <a:buSzPts val="2400"/>
              <a:buChar char="•"/>
            </a:pPr>
            <a:r>
              <a:rPr lang="en-US" sz="2400"/>
              <a:t>The sequence structure is the construct where one statement is executed after another</a:t>
            </a:r>
            <a:endParaRPr sz="2400"/>
          </a:p>
          <a:p>
            <a:pPr marL="914400" lvl="1" indent="-457200" algn="l" rtl="0">
              <a:lnSpc>
                <a:spcPct val="90000"/>
              </a:lnSpc>
              <a:spcBef>
                <a:spcPts val="500"/>
              </a:spcBef>
              <a:spcAft>
                <a:spcPts val="0"/>
              </a:spcAft>
              <a:buClr>
                <a:schemeClr val="dk1"/>
              </a:buClr>
              <a:buSzPts val="2400"/>
              <a:buFont typeface="Calibri"/>
              <a:buAutoNum type="arabicPeriod"/>
            </a:pPr>
            <a:r>
              <a:rPr lang="en-US"/>
              <a:t>Selection</a:t>
            </a:r>
            <a:endParaRPr/>
          </a:p>
          <a:p>
            <a:pPr marL="1143000" lvl="2" indent="-228600" algn="l" rtl="0">
              <a:lnSpc>
                <a:spcPct val="90000"/>
              </a:lnSpc>
              <a:spcBef>
                <a:spcPts val="500"/>
              </a:spcBef>
              <a:spcAft>
                <a:spcPts val="0"/>
              </a:spcAft>
              <a:buClr>
                <a:schemeClr val="dk1"/>
              </a:buClr>
              <a:buSzPts val="2400"/>
              <a:buChar char="•"/>
            </a:pPr>
            <a:r>
              <a:rPr lang="en-US" sz="2400"/>
              <a:t>The selection structure is the construct where statements can executed or skipped depending on whether a condition evaluates to TRUE or FALSE</a:t>
            </a:r>
            <a:endParaRPr sz="2400"/>
          </a:p>
          <a:p>
            <a:pPr marL="914400" lvl="1" indent="-457200" algn="l" rtl="0">
              <a:lnSpc>
                <a:spcPct val="90000"/>
              </a:lnSpc>
              <a:spcBef>
                <a:spcPts val="500"/>
              </a:spcBef>
              <a:spcAft>
                <a:spcPts val="0"/>
              </a:spcAft>
              <a:buClr>
                <a:schemeClr val="dk1"/>
              </a:buClr>
              <a:buSzPts val="2400"/>
              <a:buFont typeface="Calibri"/>
              <a:buAutoNum type="arabicPeriod"/>
            </a:pPr>
            <a:r>
              <a:rPr lang="en-US"/>
              <a:t>Repetition</a:t>
            </a:r>
            <a:endParaRPr/>
          </a:p>
          <a:p>
            <a:pPr marL="1143000" lvl="2" indent="-228600" algn="l" rtl="0">
              <a:lnSpc>
                <a:spcPct val="90000"/>
              </a:lnSpc>
              <a:spcBef>
                <a:spcPts val="500"/>
              </a:spcBef>
              <a:spcAft>
                <a:spcPts val="0"/>
              </a:spcAft>
              <a:buClr>
                <a:schemeClr val="dk1"/>
              </a:buClr>
              <a:buSzPts val="2400"/>
              <a:buChar char="•"/>
            </a:pPr>
            <a:r>
              <a:rPr lang="en-US" sz="2400"/>
              <a:t>The repetition structure is the construct where statements can be executed repeatedly until a condition evaluates to TRUE or FALSE</a:t>
            </a:r>
            <a:endParaRPr/>
          </a:p>
        </p:txBody>
      </p:sp>
      <p:sp>
        <p:nvSpPr>
          <p:cNvPr id="163" name="Google Shape;16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64" name="Google Shape;16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Sequence Control Structure</a:t>
            </a:r>
            <a:endParaRPr>
              <a:solidFill>
                <a:srgbClr val="0070C0"/>
              </a:solidFill>
            </a:endParaRPr>
          </a:p>
        </p:txBody>
      </p:sp>
      <p:sp>
        <p:nvSpPr>
          <p:cNvPr id="170" name="Google Shape;170;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Statements are executed in a specified order</a:t>
            </a:r>
            <a:endParaRPr/>
          </a:p>
          <a:p>
            <a:pPr marL="228600" lvl="0" indent="-228600" algn="l" rtl="0">
              <a:lnSpc>
                <a:spcPct val="90000"/>
              </a:lnSpc>
              <a:spcBef>
                <a:spcPts val="1000"/>
              </a:spcBef>
              <a:spcAft>
                <a:spcPts val="0"/>
              </a:spcAft>
              <a:buClr>
                <a:schemeClr val="dk1"/>
              </a:buClr>
              <a:buSzPts val="2800"/>
              <a:buChar char="•"/>
            </a:pPr>
            <a:r>
              <a:rPr lang="en-US"/>
              <a:t>No statement is skipped </a:t>
            </a:r>
            <a:endParaRPr/>
          </a:p>
          <a:p>
            <a:pPr marL="228600" lvl="0" indent="-228600" algn="l" rtl="0">
              <a:lnSpc>
                <a:spcPct val="90000"/>
              </a:lnSpc>
              <a:spcBef>
                <a:spcPts val="1000"/>
              </a:spcBef>
              <a:spcAft>
                <a:spcPts val="0"/>
              </a:spcAft>
              <a:buClr>
                <a:schemeClr val="dk1"/>
              </a:buClr>
              <a:buSzPts val="2800"/>
              <a:buChar char="•"/>
            </a:pPr>
            <a:r>
              <a:rPr lang="en-US"/>
              <a:t>No statement is executed more than once</a:t>
            </a:r>
            <a:endParaRPr/>
          </a:p>
          <a:p>
            <a:pPr marL="228600" lvl="0" indent="-228600" algn="l" rtl="0">
              <a:lnSpc>
                <a:spcPct val="90000"/>
              </a:lnSpc>
              <a:spcBef>
                <a:spcPts val="1000"/>
              </a:spcBef>
              <a:spcAft>
                <a:spcPts val="0"/>
              </a:spcAft>
              <a:buClr>
                <a:schemeClr val="dk1"/>
              </a:buClr>
              <a:buSzPts val="2800"/>
              <a:buChar char="•"/>
            </a:pPr>
            <a:r>
              <a:rPr lang="en-US"/>
              <a:t>Example: </a:t>
            </a:r>
            <a:r>
              <a:rPr lang="en-US" i="1">
                <a:solidFill>
                  <a:srgbClr val="0070C0"/>
                </a:solidFill>
              </a:rPr>
              <a:t>to calculate the percentage</a:t>
            </a:r>
            <a:endParaRPr/>
          </a:p>
          <a:p>
            <a:pPr marL="0" lvl="0" indent="0" algn="l" rtl="0">
              <a:lnSpc>
                <a:spcPct val="90000"/>
              </a:lnSpc>
              <a:spcBef>
                <a:spcPts val="1000"/>
              </a:spcBef>
              <a:spcAft>
                <a:spcPts val="0"/>
              </a:spcAft>
              <a:buClr>
                <a:schemeClr val="dk1"/>
              </a:buClr>
              <a:buSzPts val="2000"/>
              <a:buNone/>
            </a:pPr>
            <a:r>
              <a:rPr lang="en-US" sz="2000" b="1">
                <a:latin typeface="Courier New"/>
                <a:ea typeface="Courier New"/>
                <a:cs typeface="Courier New"/>
                <a:sym typeface="Courier New"/>
              </a:rPr>
              <a:t>	</a:t>
            </a:r>
            <a:r>
              <a:rPr lang="en-US" sz="2100">
                <a:latin typeface="Courier New"/>
                <a:ea typeface="Courier New"/>
                <a:cs typeface="Courier New"/>
                <a:sym typeface="Courier New"/>
              </a:rPr>
              <a:t>Take marks obtained</a:t>
            </a:r>
            <a:endParaRPr/>
          </a:p>
          <a:p>
            <a:pPr marL="0" lvl="0" indent="0" algn="l" rtl="0">
              <a:lnSpc>
                <a:spcPct val="90000"/>
              </a:lnSpc>
              <a:spcBef>
                <a:spcPts val="1000"/>
              </a:spcBef>
              <a:spcAft>
                <a:spcPts val="0"/>
              </a:spcAft>
              <a:buClr>
                <a:schemeClr val="dk1"/>
              </a:buClr>
              <a:buSzPts val="2100"/>
              <a:buNone/>
            </a:pPr>
            <a:r>
              <a:rPr lang="en-US" sz="2100">
                <a:latin typeface="Courier New"/>
                <a:ea typeface="Courier New"/>
                <a:cs typeface="Courier New"/>
                <a:sym typeface="Courier New"/>
              </a:rPr>
              <a:t>	Take total marks</a:t>
            </a:r>
            <a:endParaRPr/>
          </a:p>
          <a:p>
            <a:pPr marL="0" lvl="0" indent="0" algn="l" rtl="0">
              <a:lnSpc>
                <a:spcPct val="90000"/>
              </a:lnSpc>
              <a:spcBef>
                <a:spcPts val="1000"/>
              </a:spcBef>
              <a:spcAft>
                <a:spcPts val="0"/>
              </a:spcAft>
              <a:buClr>
                <a:schemeClr val="dk1"/>
              </a:buClr>
              <a:buSzPts val="2100"/>
              <a:buNone/>
            </a:pPr>
            <a:r>
              <a:rPr lang="en-US" sz="2100">
                <a:latin typeface="Courier New"/>
                <a:ea typeface="Courier New"/>
                <a:cs typeface="Courier New"/>
                <a:sym typeface="Courier New"/>
              </a:rPr>
              <a:t>	Calculate percentage = marks obtained * 100 / total marks</a:t>
            </a:r>
            <a:endParaRPr/>
          </a:p>
          <a:p>
            <a:pPr marL="0" lvl="0" indent="0" algn="l" rtl="0">
              <a:lnSpc>
                <a:spcPct val="90000"/>
              </a:lnSpc>
              <a:spcBef>
                <a:spcPts val="1000"/>
              </a:spcBef>
              <a:spcAft>
                <a:spcPts val="0"/>
              </a:spcAft>
              <a:buClr>
                <a:schemeClr val="dk1"/>
              </a:buClr>
              <a:buSzPts val="2100"/>
              <a:buNone/>
            </a:pPr>
            <a:r>
              <a:rPr lang="en-US" sz="2100">
                <a:latin typeface="Courier New"/>
                <a:ea typeface="Courier New"/>
                <a:cs typeface="Courier New"/>
                <a:sym typeface="Courier New"/>
              </a:rPr>
              <a:t>	Display marks</a:t>
            </a:r>
            <a:endParaRPr/>
          </a:p>
        </p:txBody>
      </p:sp>
      <p:sp>
        <p:nvSpPr>
          <p:cNvPr id="171" name="Google Shape;17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72" name="Google Shape;17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Selection Control Structure</a:t>
            </a:r>
            <a:endParaRPr>
              <a:solidFill>
                <a:srgbClr val="0070C0"/>
              </a:solidFill>
            </a:endParaRPr>
          </a:p>
        </p:txBody>
      </p:sp>
      <p:sp>
        <p:nvSpPr>
          <p:cNvPr id="178" name="Google Shape;178;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There are three selection structures in C: </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IF </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IF – ELSE </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SWITCH</a:t>
            </a:r>
            <a:endParaRPr/>
          </a:p>
        </p:txBody>
      </p:sp>
      <p:sp>
        <p:nvSpPr>
          <p:cNvPr id="179" name="Google Shape;17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80" name="Google Shape;18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IF Selection Control Structure</a:t>
            </a:r>
            <a:endParaRPr>
              <a:solidFill>
                <a:srgbClr val="0070C0"/>
              </a:solidFill>
            </a:endParaRPr>
          </a:p>
        </p:txBody>
      </p:sp>
      <p:sp>
        <p:nvSpPr>
          <p:cNvPr id="186" name="Google Shape;186;p13"/>
          <p:cNvSpPr txBox="1">
            <a:spLocks noGrp="1"/>
          </p:cNvSpPr>
          <p:nvPr>
            <p:ph type="body" idx="1"/>
          </p:nvPr>
        </p:nvSpPr>
        <p:spPr>
          <a:xfrm>
            <a:off x="838200" y="1825625"/>
            <a:ext cx="73152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IF statement is used to verify the given condition and executes the block of statements based on the condition result. </a:t>
            </a:r>
            <a:endParaRPr/>
          </a:p>
          <a:p>
            <a:pPr marL="228600" lvl="0" indent="-228600" algn="l" rtl="0">
              <a:lnSpc>
                <a:spcPct val="90000"/>
              </a:lnSpc>
              <a:spcBef>
                <a:spcPts val="1000"/>
              </a:spcBef>
              <a:spcAft>
                <a:spcPts val="0"/>
              </a:spcAft>
              <a:buClr>
                <a:schemeClr val="dk1"/>
              </a:buClr>
              <a:buSzPts val="2800"/>
              <a:buChar char="•"/>
            </a:pPr>
            <a:r>
              <a:rPr lang="en-US"/>
              <a:t>The simple if statement evaluates specified condition. </a:t>
            </a:r>
            <a:endParaRPr/>
          </a:p>
          <a:p>
            <a:pPr marL="228600" lvl="0" indent="-228600" algn="l" rtl="0">
              <a:lnSpc>
                <a:spcPct val="90000"/>
              </a:lnSpc>
              <a:spcBef>
                <a:spcPts val="1000"/>
              </a:spcBef>
              <a:spcAft>
                <a:spcPts val="0"/>
              </a:spcAft>
              <a:buClr>
                <a:schemeClr val="dk1"/>
              </a:buClr>
              <a:buSzPts val="2800"/>
              <a:buChar char="•"/>
            </a:pPr>
            <a:r>
              <a:rPr lang="en-US"/>
              <a:t>If it is </a:t>
            </a:r>
            <a:r>
              <a:rPr lang="en-US">
                <a:solidFill>
                  <a:srgbClr val="0070C0"/>
                </a:solidFill>
              </a:rPr>
              <a:t>TRUE</a:t>
            </a:r>
            <a:r>
              <a:rPr lang="en-US"/>
              <a:t>, it executes the next statement or block of statements. </a:t>
            </a:r>
            <a:endParaRPr/>
          </a:p>
          <a:p>
            <a:pPr marL="228600" lvl="0" indent="-228600" algn="l" rtl="0">
              <a:lnSpc>
                <a:spcPct val="90000"/>
              </a:lnSpc>
              <a:spcBef>
                <a:spcPts val="1000"/>
              </a:spcBef>
              <a:spcAft>
                <a:spcPts val="0"/>
              </a:spcAft>
              <a:buClr>
                <a:schemeClr val="dk1"/>
              </a:buClr>
              <a:buSzPts val="2800"/>
              <a:buChar char="•"/>
            </a:pPr>
            <a:r>
              <a:rPr lang="en-US"/>
              <a:t>If the condition is </a:t>
            </a:r>
            <a:r>
              <a:rPr lang="en-US">
                <a:solidFill>
                  <a:srgbClr val="0070C0"/>
                </a:solidFill>
              </a:rPr>
              <a:t>FALSE</a:t>
            </a:r>
            <a:r>
              <a:rPr lang="en-US"/>
              <a:t>, it skips the execution of the next statement or block of statements. </a:t>
            </a:r>
            <a:endParaRPr/>
          </a:p>
        </p:txBody>
      </p:sp>
      <p:sp>
        <p:nvSpPr>
          <p:cNvPr id="187" name="Google Shape;18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88" name="Google Shape;18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pic>
        <p:nvPicPr>
          <p:cNvPr id="189" name="Google Shape;189;p13"/>
          <p:cNvPicPr preferRelativeResize="0"/>
          <p:nvPr/>
        </p:nvPicPr>
        <p:blipFill rotWithShape="1">
          <a:blip r:embed="rId3">
            <a:alphaModFix/>
          </a:blip>
          <a:srcRect/>
          <a:stretch/>
        </p:blipFill>
        <p:spPr>
          <a:xfrm>
            <a:off x="8455602" y="1690688"/>
            <a:ext cx="2762250" cy="2743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IF Selection Control Structure</a:t>
            </a:r>
            <a:endParaRPr/>
          </a:p>
        </p:txBody>
      </p:sp>
      <p:sp>
        <p:nvSpPr>
          <p:cNvPr id="195" name="Google Shape;195;p14"/>
          <p:cNvSpPr txBox="1">
            <a:spLocks noGrp="1"/>
          </p:cNvSpPr>
          <p:nvPr>
            <p:ph type="body" idx="1"/>
          </p:nvPr>
        </p:nvSpPr>
        <p:spPr>
          <a:xfrm>
            <a:off x="838199" y="1825625"/>
            <a:ext cx="9511145"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Example:</a:t>
            </a:r>
            <a:endParaRPr>
              <a:solidFill>
                <a:srgbClr val="0070C0"/>
              </a:solidFill>
            </a:endParaRPr>
          </a:p>
          <a:p>
            <a:pPr marL="0" lvl="0" indent="0" algn="l" rtl="0">
              <a:lnSpc>
                <a:spcPct val="90000"/>
              </a:lnSpc>
              <a:spcBef>
                <a:spcPts val="1000"/>
              </a:spcBef>
              <a:spcAft>
                <a:spcPts val="0"/>
              </a:spcAft>
              <a:buClr>
                <a:schemeClr val="dk1"/>
              </a:buClr>
              <a:buSzPts val="2400"/>
              <a:buNone/>
            </a:pPr>
            <a:r>
              <a:rPr lang="en-US" sz="2400">
                <a:latin typeface="Courier New"/>
                <a:ea typeface="Courier New"/>
                <a:cs typeface="Courier New"/>
                <a:sym typeface="Courier New"/>
              </a:rPr>
              <a:t>Take a number from user as input</a:t>
            </a:r>
            <a:endParaRPr/>
          </a:p>
          <a:p>
            <a:pPr marL="0" lvl="0" indent="0" algn="l" rtl="0">
              <a:lnSpc>
                <a:spcPct val="90000"/>
              </a:lnSpc>
              <a:spcBef>
                <a:spcPts val="1000"/>
              </a:spcBef>
              <a:spcAft>
                <a:spcPts val="0"/>
              </a:spcAft>
              <a:buClr>
                <a:schemeClr val="dk1"/>
              </a:buClr>
              <a:buSzPts val="2400"/>
              <a:buNone/>
            </a:pPr>
            <a:r>
              <a:rPr lang="en-US" sz="2400">
                <a:latin typeface="Courier New"/>
                <a:ea typeface="Courier New"/>
                <a:cs typeface="Courier New"/>
                <a:sym typeface="Courier New"/>
              </a:rPr>
              <a:t>If number &lt; 20 </a:t>
            </a:r>
            <a:endParaRPr/>
          </a:p>
          <a:p>
            <a:pPr marL="0" lvl="0" indent="0" algn="l" rtl="0">
              <a:lnSpc>
                <a:spcPct val="90000"/>
              </a:lnSpc>
              <a:spcBef>
                <a:spcPts val="1000"/>
              </a:spcBef>
              <a:spcAft>
                <a:spcPts val="0"/>
              </a:spcAft>
              <a:buClr>
                <a:schemeClr val="dk1"/>
              </a:buClr>
              <a:buSzPts val="2400"/>
              <a:buNone/>
            </a:pPr>
            <a:r>
              <a:rPr lang="en-US" sz="2400">
                <a:latin typeface="Courier New"/>
                <a:ea typeface="Courier New"/>
                <a:cs typeface="Courier New"/>
                <a:sym typeface="Courier New"/>
              </a:rPr>
              <a:t>Print number is less than 20</a:t>
            </a:r>
            <a:endParaRPr/>
          </a:p>
          <a:p>
            <a:pPr marL="0" lvl="0" indent="0" algn="l" rtl="0">
              <a:lnSpc>
                <a:spcPct val="90000"/>
              </a:lnSpc>
              <a:spcBef>
                <a:spcPts val="1000"/>
              </a:spcBef>
              <a:spcAft>
                <a:spcPts val="0"/>
              </a:spcAft>
              <a:buClr>
                <a:schemeClr val="dk1"/>
              </a:buClr>
              <a:buSzPts val="2400"/>
              <a:buNone/>
            </a:pPr>
            <a:r>
              <a:rPr lang="en-US" sz="2400">
                <a:latin typeface="Courier New"/>
                <a:ea typeface="Courier New"/>
                <a:cs typeface="Courier New"/>
                <a:sym typeface="Courier New"/>
              </a:rPr>
              <a:t>Print “statement does not belong to if”</a:t>
            </a:r>
            <a:endParaRPr/>
          </a:p>
        </p:txBody>
      </p:sp>
      <p:sp>
        <p:nvSpPr>
          <p:cNvPr id="196" name="Google Shape;19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197" name="Google Shape;19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IF-ELSE Selection Control Structure</a:t>
            </a:r>
            <a:endParaRPr/>
          </a:p>
        </p:txBody>
      </p:sp>
      <p:sp>
        <p:nvSpPr>
          <p:cNvPr id="203" name="Google Shape;203;p15"/>
          <p:cNvSpPr txBox="1">
            <a:spLocks noGrp="1"/>
          </p:cNvSpPr>
          <p:nvPr>
            <p:ph type="body" idx="1"/>
          </p:nvPr>
        </p:nvSpPr>
        <p:spPr>
          <a:xfrm>
            <a:off x="838200" y="1825625"/>
            <a:ext cx="6615545"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Verifies the given condition and executes only one out of the two blocks of statements based on the condition result. </a:t>
            </a:r>
            <a:endParaRPr/>
          </a:p>
          <a:p>
            <a:pPr marL="228600" lvl="0" indent="-228600" algn="l" rtl="0">
              <a:lnSpc>
                <a:spcPct val="90000"/>
              </a:lnSpc>
              <a:spcBef>
                <a:spcPts val="1000"/>
              </a:spcBef>
              <a:spcAft>
                <a:spcPts val="0"/>
              </a:spcAft>
              <a:buClr>
                <a:schemeClr val="dk1"/>
              </a:buClr>
              <a:buSzPts val="2800"/>
              <a:buChar char="•"/>
            </a:pPr>
            <a:r>
              <a:rPr lang="en-US"/>
              <a:t>The if-else statement evaluates the specified condition. </a:t>
            </a:r>
            <a:endParaRPr/>
          </a:p>
          <a:p>
            <a:pPr marL="685800" lvl="1" indent="-228600" algn="l" rtl="0">
              <a:lnSpc>
                <a:spcPct val="90000"/>
              </a:lnSpc>
              <a:spcBef>
                <a:spcPts val="500"/>
              </a:spcBef>
              <a:spcAft>
                <a:spcPts val="0"/>
              </a:spcAft>
              <a:buClr>
                <a:schemeClr val="dk1"/>
              </a:buClr>
              <a:buSzPts val="2400"/>
              <a:buChar char="•"/>
            </a:pPr>
            <a:r>
              <a:rPr lang="en-US"/>
              <a:t>If it is TRUE, it executes a block of statements (True block). </a:t>
            </a:r>
            <a:endParaRPr/>
          </a:p>
          <a:p>
            <a:pPr marL="685800" lvl="1" indent="-228600" algn="l" rtl="0">
              <a:lnSpc>
                <a:spcPct val="90000"/>
              </a:lnSpc>
              <a:spcBef>
                <a:spcPts val="500"/>
              </a:spcBef>
              <a:spcAft>
                <a:spcPts val="0"/>
              </a:spcAft>
              <a:buClr>
                <a:schemeClr val="dk1"/>
              </a:buClr>
              <a:buSzPts val="2400"/>
              <a:buChar char="•"/>
            </a:pPr>
            <a:r>
              <a:rPr lang="en-US"/>
              <a:t>If the condition is FALSE, it executes another block of statements (False block). </a:t>
            </a:r>
            <a:endParaRPr/>
          </a:p>
        </p:txBody>
      </p:sp>
      <p:sp>
        <p:nvSpPr>
          <p:cNvPr id="204" name="Google Shape;20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05" name="Google Shape;20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pic>
        <p:nvPicPr>
          <p:cNvPr id="206" name="Google Shape;206;p15"/>
          <p:cNvPicPr preferRelativeResize="0"/>
          <p:nvPr/>
        </p:nvPicPr>
        <p:blipFill rotWithShape="1">
          <a:blip r:embed="rId3">
            <a:alphaModFix/>
          </a:blip>
          <a:srcRect/>
          <a:stretch/>
        </p:blipFill>
        <p:spPr>
          <a:xfrm>
            <a:off x="7453745" y="1825625"/>
            <a:ext cx="3524250" cy="4057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IF-ELSE Selection Control Structure</a:t>
            </a:r>
            <a:endParaRPr/>
          </a:p>
        </p:txBody>
      </p:sp>
      <p:sp>
        <p:nvSpPr>
          <p:cNvPr id="212" name="Google Shape;212;p16"/>
          <p:cNvSpPr txBox="1">
            <a:spLocks noGrp="1"/>
          </p:cNvSpPr>
          <p:nvPr>
            <p:ph type="body" idx="1"/>
          </p:nvPr>
        </p:nvSpPr>
        <p:spPr>
          <a:xfrm>
            <a:off x="838199" y="1825625"/>
            <a:ext cx="9344891"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Example: </a:t>
            </a:r>
            <a:r>
              <a:rPr lang="en-US">
                <a:solidFill>
                  <a:srgbClr val="0070C0"/>
                </a:solidFill>
              </a:rPr>
              <a:t>to check whether number is divisible by 2</a:t>
            </a:r>
            <a:endParaRPr/>
          </a:p>
          <a:p>
            <a:pPr marL="0" lvl="0" indent="0" algn="l" rtl="0">
              <a:lnSpc>
                <a:spcPct val="90000"/>
              </a:lnSpc>
              <a:spcBef>
                <a:spcPts val="1000"/>
              </a:spcBef>
              <a:spcAft>
                <a:spcPts val="0"/>
              </a:spcAft>
              <a:buClr>
                <a:schemeClr val="dk1"/>
              </a:buClr>
              <a:buSzPts val="2100"/>
              <a:buNone/>
            </a:pPr>
            <a:r>
              <a:rPr lang="en-US" sz="2100">
                <a:latin typeface="Courier New"/>
                <a:ea typeface="Courier New"/>
                <a:cs typeface="Courier New"/>
                <a:sym typeface="Courier New"/>
              </a:rPr>
              <a:t>Take a number as input from user</a:t>
            </a:r>
            <a:endParaRPr/>
          </a:p>
          <a:p>
            <a:pPr marL="0" lvl="0" indent="0" algn="l" rtl="0">
              <a:lnSpc>
                <a:spcPct val="90000"/>
              </a:lnSpc>
              <a:spcBef>
                <a:spcPts val="1000"/>
              </a:spcBef>
              <a:spcAft>
                <a:spcPts val="0"/>
              </a:spcAft>
              <a:buClr>
                <a:schemeClr val="dk1"/>
              </a:buClr>
              <a:buSzPts val="2100"/>
              <a:buNone/>
            </a:pPr>
            <a:r>
              <a:rPr lang="en-US" sz="2100">
                <a:latin typeface="Courier New"/>
                <a:ea typeface="Courier New"/>
                <a:cs typeface="Courier New"/>
                <a:sym typeface="Courier New"/>
              </a:rPr>
              <a:t>if number is divided by 2 and remainder is zero </a:t>
            </a:r>
            <a:endParaRPr/>
          </a:p>
          <a:p>
            <a:pPr marL="0" lvl="0" indent="0" algn="l" rtl="0">
              <a:lnSpc>
                <a:spcPct val="90000"/>
              </a:lnSpc>
              <a:spcBef>
                <a:spcPts val="1000"/>
              </a:spcBef>
              <a:spcAft>
                <a:spcPts val="0"/>
              </a:spcAft>
              <a:buClr>
                <a:schemeClr val="dk1"/>
              </a:buClr>
              <a:buSzPts val="2100"/>
              <a:buNone/>
            </a:pPr>
            <a:r>
              <a:rPr lang="en-US" sz="2100">
                <a:latin typeface="Courier New"/>
                <a:ea typeface="Courier New"/>
                <a:cs typeface="Courier New"/>
                <a:sym typeface="Courier New"/>
              </a:rPr>
              <a:t>Print number is divisible by 2</a:t>
            </a:r>
            <a:endParaRPr/>
          </a:p>
          <a:p>
            <a:pPr marL="0" lvl="0" indent="0" algn="l" rtl="0">
              <a:lnSpc>
                <a:spcPct val="90000"/>
              </a:lnSpc>
              <a:spcBef>
                <a:spcPts val="1000"/>
              </a:spcBef>
              <a:spcAft>
                <a:spcPts val="0"/>
              </a:spcAft>
              <a:buClr>
                <a:schemeClr val="dk1"/>
              </a:buClr>
              <a:buSzPts val="2100"/>
              <a:buNone/>
            </a:pPr>
            <a:r>
              <a:rPr lang="en-US" sz="2100">
                <a:latin typeface="Courier New"/>
                <a:ea typeface="Courier New"/>
                <a:cs typeface="Courier New"/>
                <a:sym typeface="Courier New"/>
              </a:rPr>
              <a:t>Else </a:t>
            </a:r>
            <a:endParaRPr/>
          </a:p>
          <a:p>
            <a:pPr marL="0" lvl="0" indent="0" algn="l" rtl="0">
              <a:lnSpc>
                <a:spcPct val="90000"/>
              </a:lnSpc>
              <a:spcBef>
                <a:spcPts val="1000"/>
              </a:spcBef>
              <a:spcAft>
                <a:spcPts val="0"/>
              </a:spcAft>
              <a:buClr>
                <a:schemeClr val="dk1"/>
              </a:buClr>
              <a:buSzPts val="2100"/>
              <a:buNone/>
            </a:pPr>
            <a:r>
              <a:rPr lang="en-US" sz="2100">
                <a:latin typeface="Courier New"/>
                <a:ea typeface="Courier New"/>
                <a:cs typeface="Courier New"/>
                <a:sym typeface="Courier New"/>
              </a:rPr>
              <a:t>Print number is not divisible by 2</a:t>
            </a:r>
            <a:endParaRPr sz="2100">
              <a:latin typeface="Courier New"/>
              <a:ea typeface="Courier New"/>
              <a:cs typeface="Courier New"/>
              <a:sym typeface="Courier New"/>
            </a:endParaRPr>
          </a:p>
        </p:txBody>
      </p:sp>
      <p:sp>
        <p:nvSpPr>
          <p:cNvPr id="213" name="Google Shape;2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14" name="Google Shape;2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Nested IF-ELSE Statements</a:t>
            </a:r>
            <a:endParaRPr>
              <a:solidFill>
                <a:srgbClr val="0070C0"/>
              </a:solidFill>
            </a:endParaRPr>
          </a:p>
        </p:txBody>
      </p:sp>
      <p:sp>
        <p:nvSpPr>
          <p:cNvPr id="220" name="Google Shape;220;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Writing a if statement inside another if statement is called nested if statement. </a:t>
            </a:r>
            <a:endParaRPr/>
          </a:p>
          <a:p>
            <a:pPr marL="228600" lvl="0" indent="-50800" algn="l" rtl="0">
              <a:lnSpc>
                <a:spcPct val="90000"/>
              </a:lnSpc>
              <a:spcBef>
                <a:spcPts val="1000"/>
              </a:spcBef>
              <a:spcAft>
                <a:spcPts val="0"/>
              </a:spcAft>
              <a:buClr>
                <a:schemeClr val="dk1"/>
              </a:buClr>
              <a:buSzPts val="2800"/>
              <a:buNone/>
            </a:pPr>
            <a:endParaRPr/>
          </a:p>
        </p:txBody>
      </p:sp>
      <p:sp>
        <p:nvSpPr>
          <p:cNvPr id="221" name="Google Shape;2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22" name="Google Shape;2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pic>
        <p:nvPicPr>
          <p:cNvPr id="223" name="Google Shape;223;p17"/>
          <p:cNvPicPr preferRelativeResize="0"/>
          <p:nvPr/>
        </p:nvPicPr>
        <p:blipFill rotWithShape="1">
          <a:blip r:embed="rId3">
            <a:alphaModFix/>
          </a:blip>
          <a:srcRect/>
          <a:stretch/>
        </p:blipFill>
        <p:spPr>
          <a:xfrm>
            <a:off x="4038600" y="2247107"/>
            <a:ext cx="3581400" cy="4019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IF - ELSE - IF Statement (if-else ladder)</a:t>
            </a:r>
            <a:endParaRPr/>
          </a:p>
        </p:txBody>
      </p:sp>
      <p:sp>
        <p:nvSpPr>
          <p:cNvPr id="229" name="Google Shape;229;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Writing a if statement inside else of a if statement is called if - else - if statement. </a:t>
            </a:r>
            <a:endParaRPr/>
          </a:p>
          <a:p>
            <a:pPr marL="228600" lvl="0" indent="-50800" algn="l" rtl="0">
              <a:lnSpc>
                <a:spcPct val="90000"/>
              </a:lnSpc>
              <a:spcBef>
                <a:spcPts val="1000"/>
              </a:spcBef>
              <a:spcAft>
                <a:spcPts val="0"/>
              </a:spcAft>
              <a:buClr>
                <a:schemeClr val="dk1"/>
              </a:buClr>
              <a:buSzPts val="2800"/>
              <a:buNone/>
            </a:pPr>
            <a:endParaRPr/>
          </a:p>
        </p:txBody>
      </p:sp>
      <p:sp>
        <p:nvSpPr>
          <p:cNvPr id="230" name="Google Shape;23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31" name="Google Shape;23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pic>
        <p:nvPicPr>
          <p:cNvPr id="232" name="Google Shape;232;p18"/>
          <p:cNvPicPr preferRelativeResize="0"/>
          <p:nvPr/>
        </p:nvPicPr>
        <p:blipFill rotWithShape="1">
          <a:blip r:embed="rId3">
            <a:alphaModFix/>
          </a:blip>
          <a:srcRect/>
          <a:stretch/>
        </p:blipFill>
        <p:spPr>
          <a:xfrm>
            <a:off x="4156364" y="2470150"/>
            <a:ext cx="3352800" cy="3886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SWITCH Statement</a:t>
            </a:r>
            <a:endParaRPr>
              <a:solidFill>
                <a:srgbClr val="0070C0"/>
              </a:solidFill>
            </a:endParaRPr>
          </a:p>
        </p:txBody>
      </p:sp>
      <p:sp>
        <p:nvSpPr>
          <p:cNvPr id="238" name="Google Shape;238;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When we have more number of options out of which we need to select only one option that is to be executed</a:t>
            </a:r>
            <a:endParaRPr/>
          </a:p>
          <a:p>
            <a:pPr marL="228600" lvl="0" indent="-228600" algn="l" rtl="0">
              <a:lnSpc>
                <a:spcPct val="90000"/>
              </a:lnSpc>
              <a:spcBef>
                <a:spcPts val="1000"/>
              </a:spcBef>
              <a:spcAft>
                <a:spcPts val="0"/>
              </a:spcAft>
              <a:buClr>
                <a:schemeClr val="dk1"/>
              </a:buClr>
              <a:buSzPts val="2800"/>
              <a:buChar char="•"/>
            </a:pPr>
            <a:r>
              <a:rPr lang="en-US"/>
              <a:t>In switch statement, we provide a value that is to be compared with a value associated with each option. </a:t>
            </a:r>
            <a:endParaRPr/>
          </a:p>
          <a:p>
            <a:pPr marL="228600" lvl="0" indent="-228600" algn="l" rtl="0">
              <a:lnSpc>
                <a:spcPct val="90000"/>
              </a:lnSpc>
              <a:spcBef>
                <a:spcPts val="1000"/>
              </a:spcBef>
              <a:spcAft>
                <a:spcPts val="0"/>
              </a:spcAft>
              <a:buClr>
                <a:schemeClr val="dk1"/>
              </a:buClr>
              <a:buSzPts val="2800"/>
              <a:buChar char="•"/>
            </a:pPr>
            <a:r>
              <a:rPr lang="en-US"/>
              <a:t>Whenever the given value matches with the value associated with an option, the execution starts from that option. </a:t>
            </a:r>
            <a:endParaRPr/>
          </a:p>
          <a:p>
            <a:pPr marL="228600" lvl="0" indent="-228600" algn="l" rtl="0">
              <a:lnSpc>
                <a:spcPct val="90000"/>
              </a:lnSpc>
              <a:spcBef>
                <a:spcPts val="1000"/>
              </a:spcBef>
              <a:spcAft>
                <a:spcPts val="0"/>
              </a:spcAft>
              <a:buClr>
                <a:schemeClr val="dk1"/>
              </a:buClr>
              <a:buSzPts val="2800"/>
              <a:buChar char="•"/>
            </a:pPr>
            <a:r>
              <a:rPr lang="en-US"/>
              <a:t>In switch statement every option is defined as a case.</a:t>
            </a:r>
            <a:endParaRPr/>
          </a:p>
        </p:txBody>
      </p:sp>
      <p:sp>
        <p:nvSpPr>
          <p:cNvPr id="239" name="Google Shape;23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40" name="Google Shape;24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SWITCH Statement</a:t>
            </a:r>
            <a:endParaRPr/>
          </a:p>
        </p:txBody>
      </p:sp>
      <p:sp>
        <p:nvSpPr>
          <p:cNvPr id="246" name="Google Shape;246;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247" name="Google Shape;24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48" name="Google Shape;24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pic>
        <p:nvPicPr>
          <p:cNvPr id="249" name="Google Shape;249;p20"/>
          <p:cNvPicPr preferRelativeResize="0"/>
          <p:nvPr/>
        </p:nvPicPr>
        <p:blipFill rotWithShape="1">
          <a:blip r:embed="rId3">
            <a:alphaModFix/>
          </a:blip>
          <a:srcRect/>
          <a:stretch/>
        </p:blipFill>
        <p:spPr>
          <a:xfrm>
            <a:off x="3848100" y="1514048"/>
            <a:ext cx="4495800" cy="48291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Repetition Control Structure</a:t>
            </a:r>
            <a:endParaRPr>
              <a:solidFill>
                <a:srgbClr val="0070C0"/>
              </a:solidFill>
            </a:endParaRPr>
          </a:p>
        </p:txBody>
      </p:sp>
      <p:sp>
        <p:nvSpPr>
          <p:cNvPr id="255" name="Google Shape;255;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There are three repetition structures in C: </a:t>
            </a:r>
            <a:endParaRPr/>
          </a:p>
          <a:p>
            <a:pPr marL="228600" lvl="0" indent="-228600" algn="l" rtl="0">
              <a:lnSpc>
                <a:spcPct val="90000"/>
              </a:lnSpc>
              <a:spcBef>
                <a:spcPts val="1000"/>
              </a:spcBef>
              <a:spcAft>
                <a:spcPts val="0"/>
              </a:spcAft>
              <a:buClr>
                <a:schemeClr val="dk1"/>
              </a:buClr>
              <a:buSzPts val="2800"/>
              <a:buChar char="•"/>
            </a:pPr>
            <a:r>
              <a:rPr lang="en-US"/>
              <a:t>WHILE </a:t>
            </a:r>
            <a:endParaRPr/>
          </a:p>
          <a:p>
            <a:pPr marL="228600" lvl="0" indent="-228600" algn="l" rtl="0">
              <a:lnSpc>
                <a:spcPct val="90000"/>
              </a:lnSpc>
              <a:spcBef>
                <a:spcPts val="1000"/>
              </a:spcBef>
              <a:spcAft>
                <a:spcPts val="0"/>
              </a:spcAft>
              <a:buClr>
                <a:schemeClr val="dk1"/>
              </a:buClr>
              <a:buSzPts val="2800"/>
              <a:buChar char="•"/>
            </a:pPr>
            <a:r>
              <a:rPr lang="en-US"/>
              <a:t>DO – WHILE  </a:t>
            </a:r>
            <a:endParaRPr/>
          </a:p>
          <a:p>
            <a:pPr marL="228600" lvl="0" indent="-228600" algn="l" rtl="0">
              <a:lnSpc>
                <a:spcPct val="90000"/>
              </a:lnSpc>
              <a:spcBef>
                <a:spcPts val="1000"/>
              </a:spcBef>
              <a:spcAft>
                <a:spcPts val="0"/>
              </a:spcAft>
              <a:buClr>
                <a:schemeClr val="dk1"/>
              </a:buClr>
              <a:buSzPts val="2800"/>
              <a:buChar char="•"/>
            </a:pPr>
            <a:r>
              <a:rPr lang="en-US"/>
              <a:t>FOR </a:t>
            </a:r>
            <a:endParaRPr/>
          </a:p>
        </p:txBody>
      </p:sp>
      <p:sp>
        <p:nvSpPr>
          <p:cNvPr id="256" name="Google Shape;25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57" name="Google Shape;2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WHILE Repetition Control Structure</a:t>
            </a:r>
            <a:endParaRPr/>
          </a:p>
        </p:txBody>
      </p:sp>
      <p:sp>
        <p:nvSpPr>
          <p:cNvPr id="263" name="Google Shape;26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while statement is used to execute a single statement or block of statements repeatedly as long as the given condition is TRUE. </a:t>
            </a:r>
            <a:endParaRPr/>
          </a:p>
        </p:txBody>
      </p:sp>
      <p:sp>
        <p:nvSpPr>
          <p:cNvPr id="264" name="Google Shape;2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65" name="Google Shape;2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pic>
        <p:nvPicPr>
          <p:cNvPr id="266" name="Google Shape;266;p22"/>
          <p:cNvPicPr preferRelativeResize="0"/>
          <p:nvPr/>
        </p:nvPicPr>
        <p:blipFill rotWithShape="1">
          <a:blip r:embed="rId3">
            <a:alphaModFix/>
          </a:blip>
          <a:srcRect/>
          <a:stretch/>
        </p:blipFill>
        <p:spPr>
          <a:xfrm>
            <a:off x="4327814" y="2669597"/>
            <a:ext cx="3314700" cy="339869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DO-WHILE Repetition Control Structure</a:t>
            </a:r>
            <a:endParaRPr/>
          </a:p>
        </p:txBody>
      </p:sp>
      <p:sp>
        <p:nvSpPr>
          <p:cNvPr id="272" name="Google Shape;272;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do-while statement is used to execute a single statement or block of statements repeatedly as long as given the condition is TRUE. </a:t>
            </a:r>
            <a:endParaRPr/>
          </a:p>
        </p:txBody>
      </p:sp>
      <p:sp>
        <p:nvSpPr>
          <p:cNvPr id="273" name="Google Shape;27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74" name="Google Shape;27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pic>
        <p:nvPicPr>
          <p:cNvPr id="275" name="Google Shape;275;p23"/>
          <p:cNvPicPr preferRelativeResize="0"/>
          <p:nvPr/>
        </p:nvPicPr>
        <p:blipFill rotWithShape="1">
          <a:blip r:embed="rId3">
            <a:alphaModFix/>
          </a:blip>
          <a:srcRect/>
          <a:stretch/>
        </p:blipFill>
        <p:spPr>
          <a:xfrm>
            <a:off x="4338637" y="2792123"/>
            <a:ext cx="3209925" cy="27146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FOR Repetition Control Structure</a:t>
            </a:r>
            <a:endParaRPr/>
          </a:p>
        </p:txBody>
      </p:sp>
      <p:sp>
        <p:nvSpPr>
          <p:cNvPr id="281" name="Google Shape;281;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for statement is used to execute a single statement or a block of statements repeatedly as long as the given condition is TRUE. </a:t>
            </a:r>
            <a:endParaRPr/>
          </a:p>
          <a:p>
            <a:pPr marL="228600" lvl="0" indent="-50800" algn="l" rtl="0">
              <a:lnSpc>
                <a:spcPct val="90000"/>
              </a:lnSpc>
              <a:spcBef>
                <a:spcPts val="1000"/>
              </a:spcBef>
              <a:spcAft>
                <a:spcPts val="0"/>
              </a:spcAft>
              <a:buClr>
                <a:schemeClr val="dk1"/>
              </a:buClr>
              <a:buSzPts val="2800"/>
              <a:buNone/>
            </a:pPr>
            <a:endParaRPr/>
          </a:p>
        </p:txBody>
      </p:sp>
      <p:sp>
        <p:nvSpPr>
          <p:cNvPr id="282" name="Google Shape;28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83" name="Google Shape;28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pic>
        <p:nvPicPr>
          <p:cNvPr id="284" name="Google Shape;284;p24"/>
          <p:cNvPicPr preferRelativeResize="0"/>
          <p:nvPr/>
        </p:nvPicPr>
        <p:blipFill rotWithShape="1">
          <a:blip r:embed="rId3">
            <a:alphaModFix/>
          </a:blip>
          <a:srcRect/>
          <a:stretch/>
        </p:blipFill>
        <p:spPr>
          <a:xfrm>
            <a:off x="2783464" y="2857932"/>
            <a:ext cx="7096125" cy="26384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Algorithm Example</a:t>
            </a:r>
            <a:endParaRPr>
              <a:solidFill>
                <a:srgbClr val="0070C0"/>
              </a:solidFill>
            </a:endParaRPr>
          </a:p>
        </p:txBody>
      </p:sp>
      <p:sp>
        <p:nvSpPr>
          <p:cNvPr id="290" name="Google Shape;290;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 Pseudocode that reads two values, determines the largest value and prints with a message. </a:t>
            </a:r>
            <a:endParaRPr/>
          </a:p>
          <a:p>
            <a:pPr marL="0" lvl="0" indent="0" algn="l" rtl="0">
              <a:lnSpc>
                <a:spcPct val="90000"/>
              </a:lnSpc>
              <a:spcBef>
                <a:spcPts val="1000"/>
              </a:spcBef>
              <a:spcAft>
                <a:spcPts val="0"/>
              </a:spcAft>
              <a:buClr>
                <a:srgbClr val="0070C0"/>
              </a:buClr>
              <a:buSzPts val="2400"/>
              <a:buNone/>
            </a:pPr>
            <a:r>
              <a:rPr lang="en-US" sz="2400">
                <a:solidFill>
                  <a:srgbClr val="0070C0"/>
                </a:solidFill>
              </a:rPr>
              <a:t>Step 1: Input Value1, Value2</a:t>
            </a:r>
            <a:endParaRPr/>
          </a:p>
          <a:p>
            <a:pPr marL="0" lvl="0" indent="0" algn="l" rtl="0">
              <a:lnSpc>
                <a:spcPct val="90000"/>
              </a:lnSpc>
              <a:spcBef>
                <a:spcPts val="1000"/>
              </a:spcBef>
              <a:spcAft>
                <a:spcPts val="0"/>
              </a:spcAft>
              <a:buClr>
                <a:srgbClr val="0070C0"/>
              </a:buClr>
              <a:buSzPts val="2400"/>
              <a:buNone/>
            </a:pPr>
            <a:r>
              <a:rPr lang="en-US" sz="2400">
                <a:solidFill>
                  <a:srgbClr val="0070C0"/>
                </a:solidFill>
              </a:rPr>
              <a:t>Step 2: If (Value1 &gt; Value2) then</a:t>
            </a:r>
            <a:endParaRPr/>
          </a:p>
          <a:p>
            <a:pPr marL="0" lvl="0" indent="0" algn="l" rtl="0">
              <a:lnSpc>
                <a:spcPct val="90000"/>
              </a:lnSpc>
              <a:spcBef>
                <a:spcPts val="1000"/>
              </a:spcBef>
              <a:spcAft>
                <a:spcPts val="0"/>
              </a:spcAft>
              <a:buClr>
                <a:srgbClr val="0070C0"/>
              </a:buClr>
              <a:buSzPts val="2400"/>
              <a:buNone/>
            </a:pPr>
            <a:r>
              <a:rPr lang="en-US" sz="2400">
                <a:solidFill>
                  <a:srgbClr val="0070C0"/>
                </a:solidFill>
              </a:rPr>
              <a:t>		Max &lt;- Value1</a:t>
            </a:r>
            <a:endParaRPr/>
          </a:p>
          <a:p>
            <a:pPr marL="0" lvl="0" indent="0" algn="l" rtl="0">
              <a:lnSpc>
                <a:spcPct val="90000"/>
              </a:lnSpc>
              <a:spcBef>
                <a:spcPts val="1000"/>
              </a:spcBef>
              <a:spcAft>
                <a:spcPts val="0"/>
              </a:spcAft>
              <a:buClr>
                <a:srgbClr val="0070C0"/>
              </a:buClr>
              <a:buSzPts val="2400"/>
              <a:buNone/>
            </a:pPr>
            <a:r>
              <a:rPr lang="en-US" sz="2400">
                <a:solidFill>
                  <a:srgbClr val="0070C0"/>
                </a:solidFill>
              </a:rPr>
              <a:t>	Else</a:t>
            </a:r>
            <a:endParaRPr sz="2400">
              <a:solidFill>
                <a:srgbClr val="0070C0"/>
              </a:solidFill>
            </a:endParaRPr>
          </a:p>
          <a:p>
            <a:pPr marL="0" lvl="0" indent="0" algn="l" rtl="0">
              <a:lnSpc>
                <a:spcPct val="90000"/>
              </a:lnSpc>
              <a:spcBef>
                <a:spcPts val="1000"/>
              </a:spcBef>
              <a:spcAft>
                <a:spcPts val="0"/>
              </a:spcAft>
              <a:buClr>
                <a:srgbClr val="0070C0"/>
              </a:buClr>
              <a:buSzPts val="2400"/>
              <a:buNone/>
            </a:pPr>
            <a:r>
              <a:rPr lang="en-US" sz="2400">
                <a:solidFill>
                  <a:srgbClr val="0070C0"/>
                </a:solidFill>
              </a:rPr>
              <a:t>		Max &lt;- Value2</a:t>
            </a:r>
            <a:endParaRPr/>
          </a:p>
          <a:p>
            <a:pPr marL="0" lvl="0" indent="0" algn="l" rtl="0">
              <a:lnSpc>
                <a:spcPct val="90000"/>
              </a:lnSpc>
              <a:spcBef>
                <a:spcPts val="1000"/>
              </a:spcBef>
              <a:spcAft>
                <a:spcPts val="0"/>
              </a:spcAft>
              <a:buClr>
                <a:srgbClr val="0070C0"/>
              </a:buClr>
              <a:buSzPts val="2400"/>
              <a:buNone/>
            </a:pPr>
            <a:r>
              <a:rPr lang="en-US" sz="2400">
                <a:solidFill>
                  <a:srgbClr val="0070C0"/>
                </a:solidFill>
              </a:rPr>
              <a:t>	Endif</a:t>
            </a:r>
            <a:endParaRPr sz="2400">
              <a:solidFill>
                <a:srgbClr val="0070C0"/>
              </a:solidFill>
            </a:endParaRPr>
          </a:p>
          <a:p>
            <a:pPr marL="0" lvl="0" indent="0" algn="l" rtl="0">
              <a:lnSpc>
                <a:spcPct val="90000"/>
              </a:lnSpc>
              <a:spcBef>
                <a:spcPts val="1000"/>
              </a:spcBef>
              <a:spcAft>
                <a:spcPts val="0"/>
              </a:spcAft>
              <a:buClr>
                <a:srgbClr val="0070C0"/>
              </a:buClr>
              <a:buSzPts val="2400"/>
              <a:buNone/>
            </a:pPr>
            <a:r>
              <a:rPr lang="en-US" sz="2400">
                <a:solidFill>
                  <a:srgbClr val="0070C0"/>
                </a:solidFill>
              </a:rPr>
              <a:t>Step3: Print “The largest value is”, Max</a:t>
            </a:r>
            <a:endParaRPr sz="2400">
              <a:solidFill>
                <a:srgbClr val="0070C0"/>
              </a:solidFill>
            </a:endParaRPr>
          </a:p>
        </p:txBody>
      </p:sp>
      <p:sp>
        <p:nvSpPr>
          <p:cNvPr id="291" name="Google Shape;29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292" name="Google Shape;29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Flowcharts</a:t>
            </a:r>
            <a:endParaRPr>
              <a:solidFill>
                <a:srgbClr val="0070C0"/>
              </a:solidFill>
            </a:endParaRPr>
          </a:p>
        </p:txBody>
      </p:sp>
      <p:sp>
        <p:nvSpPr>
          <p:cNvPr id="298" name="Google Shape;298;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Graphical or symbolic representation of an algorithm</a:t>
            </a:r>
            <a:endParaRPr/>
          </a:p>
          <a:p>
            <a:pPr marL="228600" lvl="0" indent="-228600" algn="l" rtl="0">
              <a:lnSpc>
                <a:spcPct val="90000"/>
              </a:lnSpc>
              <a:spcBef>
                <a:spcPts val="1000"/>
              </a:spcBef>
              <a:spcAft>
                <a:spcPts val="0"/>
              </a:spcAft>
              <a:buClr>
                <a:schemeClr val="dk1"/>
              </a:buClr>
              <a:buSzPts val="2800"/>
              <a:buChar char="•"/>
            </a:pPr>
            <a:r>
              <a:rPr lang="en-US"/>
              <a:t>Step-by step solution to a given problem is presented diagrammatically </a:t>
            </a:r>
            <a:endParaRPr/>
          </a:p>
          <a:p>
            <a:pPr marL="228600" lvl="0" indent="-228600" algn="l" rtl="0">
              <a:lnSpc>
                <a:spcPct val="90000"/>
              </a:lnSpc>
              <a:spcBef>
                <a:spcPts val="1000"/>
              </a:spcBef>
              <a:spcAft>
                <a:spcPts val="0"/>
              </a:spcAft>
              <a:buClr>
                <a:schemeClr val="dk1"/>
              </a:buClr>
              <a:buSzPts val="2800"/>
              <a:buChar char="•"/>
            </a:pPr>
            <a:r>
              <a:rPr lang="en-US"/>
              <a:t>Flowcharts are used in </a:t>
            </a:r>
            <a:r>
              <a:rPr lang="en-US">
                <a:solidFill>
                  <a:srgbClr val="0070C0"/>
                </a:solidFill>
              </a:rPr>
              <a:t>analyzing</a:t>
            </a:r>
            <a:r>
              <a:rPr lang="en-US"/>
              <a:t>, </a:t>
            </a:r>
            <a:r>
              <a:rPr lang="en-US">
                <a:solidFill>
                  <a:srgbClr val="0070C0"/>
                </a:solidFill>
              </a:rPr>
              <a:t>designing</a:t>
            </a:r>
            <a:r>
              <a:rPr lang="en-US"/>
              <a:t>, </a:t>
            </a:r>
            <a:r>
              <a:rPr lang="en-US">
                <a:solidFill>
                  <a:srgbClr val="0070C0"/>
                </a:solidFill>
              </a:rPr>
              <a:t>documenting</a:t>
            </a:r>
            <a:r>
              <a:rPr lang="en-US"/>
              <a:t> or </a:t>
            </a:r>
            <a:r>
              <a:rPr lang="en-US">
                <a:solidFill>
                  <a:srgbClr val="0070C0"/>
                </a:solidFill>
              </a:rPr>
              <a:t>managing a process </a:t>
            </a:r>
            <a:r>
              <a:rPr lang="en-US"/>
              <a:t>or program</a:t>
            </a:r>
            <a:endParaRPr/>
          </a:p>
          <a:p>
            <a:pPr marL="228600" lvl="0" indent="-228600" algn="l" rtl="0">
              <a:lnSpc>
                <a:spcPct val="90000"/>
              </a:lnSpc>
              <a:spcBef>
                <a:spcPts val="1000"/>
              </a:spcBef>
              <a:spcAft>
                <a:spcPts val="0"/>
              </a:spcAft>
              <a:buClr>
                <a:schemeClr val="dk1"/>
              </a:buClr>
              <a:buSzPts val="2800"/>
              <a:buChar char="•"/>
            </a:pPr>
            <a:r>
              <a:rPr lang="en-US"/>
              <a:t>The types of flowcharts are;</a:t>
            </a:r>
            <a:endParaRPr/>
          </a:p>
          <a:p>
            <a:pPr marL="685800" lvl="1" indent="-228600" algn="l" rtl="0">
              <a:lnSpc>
                <a:spcPct val="90000"/>
              </a:lnSpc>
              <a:spcBef>
                <a:spcPts val="500"/>
              </a:spcBef>
              <a:spcAft>
                <a:spcPts val="0"/>
              </a:spcAft>
              <a:buClr>
                <a:schemeClr val="dk1"/>
              </a:buClr>
              <a:buSzPts val="2400"/>
              <a:buChar char="•"/>
            </a:pPr>
            <a:r>
              <a:rPr lang="en-US"/>
              <a:t>High-Level Flowchart and </a:t>
            </a:r>
            <a:endParaRPr/>
          </a:p>
          <a:p>
            <a:pPr marL="685800" lvl="1" indent="-228600" algn="l" rtl="0">
              <a:lnSpc>
                <a:spcPct val="90000"/>
              </a:lnSpc>
              <a:spcBef>
                <a:spcPts val="500"/>
              </a:spcBef>
              <a:spcAft>
                <a:spcPts val="0"/>
              </a:spcAft>
              <a:buClr>
                <a:schemeClr val="dk1"/>
              </a:buClr>
              <a:buSzPts val="2400"/>
              <a:buChar char="•"/>
            </a:pPr>
            <a:r>
              <a:rPr lang="en-US"/>
              <a:t>Detailed Flowchart</a:t>
            </a:r>
            <a:endParaRPr/>
          </a:p>
        </p:txBody>
      </p:sp>
      <p:sp>
        <p:nvSpPr>
          <p:cNvPr id="299" name="Google Shape;29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00" name="Google Shape;30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Flowcharts</a:t>
            </a:r>
            <a:endParaRPr>
              <a:solidFill>
                <a:srgbClr val="0070C0"/>
              </a:solidFill>
            </a:endParaRPr>
          </a:p>
        </p:txBody>
      </p:sp>
      <p:sp>
        <p:nvSpPr>
          <p:cNvPr id="306" name="Google Shape;306;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Provide ease of communication</a:t>
            </a:r>
            <a:endParaRPr/>
          </a:p>
          <a:p>
            <a:pPr marL="228600" lvl="0" indent="-228600" algn="l" rtl="0">
              <a:lnSpc>
                <a:spcPct val="90000"/>
              </a:lnSpc>
              <a:spcBef>
                <a:spcPts val="1000"/>
              </a:spcBef>
              <a:spcAft>
                <a:spcPts val="0"/>
              </a:spcAft>
              <a:buClr>
                <a:schemeClr val="dk1"/>
              </a:buClr>
              <a:buSzPts val="2800"/>
              <a:buChar char="•"/>
            </a:pPr>
            <a:r>
              <a:rPr lang="en-US"/>
              <a:t>Effective and efficient analysis and coding</a:t>
            </a:r>
            <a:endParaRPr/>
          </a:p>
          <a:p>
            <a:pPr marL="228600" lvl="0" indent="-228600" algn="l" rtl="0">
              <a:lnSpc>
                <a:spcPct val="90000"/>
              </a:lnSpc>
              <a:spcBef>
                <a:spcPts val="1000"/>
              </a:spcBef>
              <a:spcAft>
                <a:spcPts val="0"/>
              </a:spcAft>
              <a:buClr>
                <a:schemeClr val="dk1"/>
              </a:buClr>
              <a:buSzPts val="2800"/>
              <a:buChar char="•"/>
            </a:pPr>
            <a:r>
              <a:rPr lang="en-US"/>
              <a:t>Proper documentation and maintenance</a:t>
            </a:r>
            <a:endParaRPr/>
          </a:p>
          <a:p>
            <a:pPr marL="0" lvl="0" indent="0" algn="l" rtl="0">
              <a:lnSpc>
                <a:spcPct val="90000"/>
              </a:lnSpc>
              <a:spcBef>
                <a:spcPts val="1000"/>
              </a:spcBef>
              <a:spcAft>
                <a:spcPts val="0"/>
              </a:spcAft>
              <a:buClr>
                <a:srgbClr val="0070C0"/>
              </a:buClr>
              <a:buSzPts val="2800"/>
              <a:buNone/>
            </a:pPr>
            <a:r>
              <a:rPr lang="en-US" b="1" i="1" u="sng">
                <a:solidFill>
                  <a:srgbClr val="0070C0"/>
                </a:solidFill>
              </a:rPr>
              <a:t>Limitation</a:t>
            </a:r>
            <a:endParaRPr/>
          </a:p>
          <a:p>
            <a:pPr marL="228600" lvl="0" indent="-228600" algn="l" rtl="0">
              <a:lnSpc>
                <a:spcPct val="90000"/>
              </a:lnSpc>
              <a:spcBef>
                <a:spcPts val="1000"/>
              </a:spcBef>
              <a:spcAft>
                <a:spcPts val="0"/>
              </a:spcAft>
              <a:buClr>
                <a:schemeClr val="dk1"/>
              </a:buClr>
              <a:buSzPts val="2800"/>
              <a:buChar char="•"/>
            </a:pPr>
            <a:r>
              <a:rPr lang="en-US"/>
              <a:t>Include complex logic</a:t>
            </a:r>
            <a:endParaRPr/>
          </a:p>
          <a:p>
            <a:pPr marL="228600" lvl="0" indent="-228600" algn="l" rtl="0">
              <a:lnSpc>
                <a:spcPct val="90000"/>
              </a:lnSpc>
              <a:spcBef>
                <a:spcPts val="1000"/>
              </a:spcBef>
              <a:spcAft>
                <a:spcPts val="0"/>
              </a:spcAft>
              <a:buClr>
                <a:schemeClr val="dk1"/>
              </a:buClr>
              <a:buSzPts val="2800"/>
              <a:buChar char="•"/>
            </a:pPr>
            <a:r>
              <a:rPr lang="en-US"/>
              <a:t>Multiple modifications </a:t>
            </a:r>
            <a:endParaRPr/>
          </a:p>
          <a:p>
            <a:pPr marL="228600" lvl="0" indent="-50800" algn="l" rtl="0">
              <a:lnSpc>
                <a:spcPct val="90000"/>
              </a:lnSpc>
              <a:spcBef>
                <a:spcPts val="1000"/>
              </a:spcBef>
              <a:spcAft>
                <a:spcPts val="0"/>
              </a:spcAft>
              <a:buClr>
                <a:schemeClr val="dk1"/>
              </a:buClr>
              <a:buSzPts val="2800"/>
              <a:buNone/>
            </a:pPr>
            <a:endParaRPr>
              <a:solidFill>
                <a:srgbClr val="0070C0"/>
              </a:solidFill>
            </a:endParaRPr>
          </a:p>
        </p:txBody>
      </p:sp>
      <p:sp>
        <p:nvSpPr>
          <p:cNvPr id="307" name="Google Shape;30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08" name="Google Shape;30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Symbols for Flowcharts</a:t>
            </a:r>
            <a:endParaRPr>
              <a:solidFill>
                <a:srgbClr val="0070C0"/>
              </a:solidFill>
            </a:endParaRPr>
          </a:p>
        </p:txBody>
      </p:sp>
      <p:sp>
        <p:nvSpPr>
          <p:cNvPr id="314" name="Google Shape;314;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15" name="Google Shape;31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
        <p:nvSpPr>
          <p:cNvPr id="316" name="Google Shape;316;p28"/>
          <p:cNvSpPr/>
          <p:nvPr/>
        </p:nvSpPr>
        <p:spPr>
          <a:xfrm>
            <a:off x="1385461" y="1787673"/>
            <a:ext cx="2189019" cy="1412730"/>
          </a:xfrm>
          <a:prstGeom prst="rect">
            <a:avLst/>
          </a:prstGeom>
          <a:solidFill>
            <a:schemeClr val="lt1"/>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7" name="Google Shape;317;p28"/>
          <p:cNvSpPr/>
          <p:nvPr/>
        </p:nvSpPr>
        <p:spPr>
          <a:xfrm>
            <a:off x="1385455" y="4073236"/>
            <a:ext cx="2189018" cy="1565564"/>
          </a:xfrm>
          <a:prstGeom prst="parallelogram">
            <a:avLst>
              <a:gd name="adj" fmla="val 25000"/>
            </a:avLst>
          </a:prstGeom>
          <a:solidFill>
            <a:schemeClr val="lt1"/>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8" name="Google Shape;318;p28"/>
          <p:cNvSpPr txBox="1"/>
          <p:nvPr/>
        </p:nvSpPr>
        <p:spPr>
          <a:xfrm>
            <a:off x="4488873" y="1773818"/>
            <a:ext cx="6068291"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sng" strike="noStrike" cap="none">
                <a:solidFill>
                  <a:srgbClr val="0070C0"/>
                </a:solidFill>
                <a:latin typeface="Calibri"/>
                <a:ea typeface="Calibri"/>
                <a:cs typeface="Calibri"/>
                <a:sym typeface="Calibri"/>
              </a:rPr>
              <a:t>Process: </a:t>
            </a:r>
            <a:r>
              <a:rPr lang="en-US" sz="2800" b="0" i="0" u="none" strike="noStrike" cap="none">
                <a:solidFill>
                  <a:schemeClr val="dk1"/>
                </a:solidFill>
                <a:latin typeface="Calibri"/>
                <a:ea typeface="Calibri"/>
                <a:cs typeface="Calibri"/>
                <a:sym typeface="Calibri"/>
              </a:rPr>
              <a:t>Any type of internal operation: data transformation, data movement, logic operation, etc.</a:t>
            </a:r>
            <a:endParaRPr sz="2800">
              <a:solidFill>
                <a:schemeClr val="dk1"/>
              </a:solidFill>
              <a:latin typeface="Calibri"/>
              <a:ea typeface="Calibri"/>
              <a:cs typeface="Calibri"/>
              <a:sym typeface="Calibri"/>
            </a:endParaRPr>
          </a:p>
        </p:txBody>
      </p:sp>
      <p:sp>
        <p:nvSpPr>
          <p:cNvPr id="319" name="Google Shape;319;p28"/>
          <p:cNvSpPr txBox="1"/>
          <p:nvPr/>
        </p:nvSpPr>
        <p:spPr>
          <a:xfrm>
            <a:off x="4641273" y="4156806"/>
            <a:ext cx="6068291"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a:solidFill>
                  <a:srgbClr val="0070C0"/>
                </a:solidFill>
                <a:latin typeface="Calibri"/>
                <a:ea typeface="Calibri"/>
                <a:cs typeface="Calibri"/>
                <a:sym typeface="Calibri"/>
              </a:rPr>
              <a:t>Input/Output: </a:t>
            </a:r>
            <a:r>
              <a:rPr lang="en-US" sz="2800">
                <a:solidFill>
                  <a:schemeClr val="dk1"/>
                </a:solidFill>
                <a:latin typeface="Calibri"/>
                <a:ea typeface="Calibri"/>
                <a:cs typeface="Calibri"/>
                <a:sym typeface="Calibri"/>
              </a:rPr>
              <a:t>Any input or output of data</a:t>
            </a:r>
            <a:endParaRPr sz="2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Symbols for Flowcharts</a:t>
            </a:r>
            <a:endParaRPr/>
          </a:p>
        </p:txBody>
      </p:sp>
      <p:sp>
        <p:nvSpPr>
          <p:cNvPr id="325" name="Google Shape;32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26" name="Google Shape;32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
        <p:nvSpPr>
          <p:cNvPr id="327" name="Google Shape;327;p29"/>
          <p:cNvSpPr txBox="1"/>
          <p:nvPr/>
        </p:nvSpPr>
        <p:spPr>
          <a:xfrm>
            <a:off x="4488873" y="1773818"/>
            <a:ext cx="6068291"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a:solidFill>
                  <a:srgbClr val="0070C0"/>
                </a:solidFill>
                <a:latin typeface="Calibri"/>
                <a:ea typeface="Calibri"/>
                <a:cs typeface="Calibri"/>
                <a:sym typeface="Calibri"/>
              </a:rPr>
              <a:t>Decision: </a:t>
            </a:r>
            <a:r>
              <a:rPr lang="en-US" sz="2800">
                <a:solidFill>
                  <a:schemeClr val="dk1"/>
                </a:solidFill>
                <a:latin typeface="Calibri"/>
                <a:ea typeface="Calibri"/>
                <a:cs typeface="Calibri"/>
                <a:sym typeface="Calibri"/>
              </a:rPr>
              <a:t>Evaluates a condition or statement and branches depending on whether the evaluation is true or false</a:t>
            </a:r>
            <a:endParaRPr sz="2800">
              <a:solidFill>
                <a:schemeClr val="dk1"/>
              </a:solidFill>
              <a:latin typeface="Calibri"/>
              <a:ea typeface="Calibri"/>
              <a:cs typeface="Calibri"/>
              <a:sym typeface="Calibri"/>
            </a:endParaRPr>
          </a:p>
        </p:txBody>
      </p:sp>
      <p:sp>
        <p:nvSpPr>
          <p:cNvPr id="328" name="Google Shape;328;p29"/>
          <p:cNvSpPr txBox="1"/>
          <p:nvPr/>
        </p:nvSpPr>
        <p:spPr>
          <a:xfrm>
            <a:off x="4641273" y="4087528"/>
            <a:ext cx="6068291"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a:solidFill>
                  <a:srgbClr val="0070C0"/>
                </a:solidFill>
                <a:latin typeface="Calibri"/>
                <a:ea typeface="Calibri"/>
                <a:cs typeface="Calibri"/>
                <a:sym typeface="Calibri"/>
              </a:rPr>
              <a:t>Connector: </a:t>
            </a:r>
            <a:r>
              <a:rPr lang="en-US" sz="2800">
                <a:solidFill>
                  <a:schemeClr val="dk1"/>
                </a:solidFill>
                <a:latin typeface="Calibri"/>
                <a:ea typeface="Calibri"/>
                <a:cs typeface="Calibri"/>
                <a:sym typeface="Calibri"/>
              </a:rPr>
              <a:t>Connects sections of flow chart, so that the diagram can maintain a smooth, linear flow</a:t>
            </a:r>
            <a:endParaRPr sz="2800">
              <a:solidFill>
                <a:schemeClr val="dk1"/>
              </a:solidFill>
              <a:latin typeface="Calibri"/>
              <a:ea typeface="Calibri"/>
              <a:cs typeface="Calibri"/>
              <a:sym typeface="Calibri"/>
            </a:endParaRPr>
          </a:p>
        </p:txBody>
      </p:sp>
      <p:sp>
        <p:nvSpPr>
          <p:cNvPr id="329" name="Google Shape;329;p29"/>
          <p:cNvSpPr/>
          <p:nvPr/>
        </p:nvSpPr>
        <p:spPr>
          <a:xfrm>
            <a:off x="1330030" y="1579418"/>
            <a:ext cx="1898073" cy="1842655"/>
          </a:xfrm>
          <a:prstGeom prst="diamond">
            <a:avLst/>
          </a:prstGeom>
          <a:solidFill>
            <a:schemeClr val="lt1"/>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 name="Google Shape;330;p29"/>
          <p:cNvSpPr/>
          <p:nvPr/>
        </p:nvSpPr>
        <p:spPr>
          <a:xfrm>
            <a:off x="1343896" y="3962394"/>
            <a:ext cx="1884219" cy="1759528"/>
          </a:xfrm>
          <a:prstGeom prst="flowChartConnector">
            <a:avLst/>
          </a:prstGeom>
          <a:solidFill>
            <a:schemeClr val="lt1"/>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Symbols for Flowcharts</a:t>
            </a:r>
            <a:endParaRPr/>
          </a:p>
        </p:txBody>
      </p:sp>
      <p:sp>
        <p:nvSpPr>
          <p:cNvPr id="336" name="Google Shape;33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37" name="Google Shape;33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
        <p:nvSpPr>
          <p:cNvPr id="338" name="Google Shape;338;p30"/>
          <p:cNvSpPr/>
          <p:nvPr/>
        </p:nvSpPr>
        <p:spPr>
          <a:xfrm>
            <a:off x="1399309" y="2092036"/>
            <a:ext cx="2355273" cy="775855"/>
          </a:xfrm>
          <a:prstGeom prst="flowChartTerminator">
            <a:avLst/>
          </a:prstGeom>
          <a:solidFill>
            <a:schemeClr val="lt1"/>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39" name="Google Shape;339;p30"/>
          <p:cNvCxnSpPr/>
          <p:nvPr/>
        </p:nvCxnSpPr>
        <p:spPr>
          <a:xfrm>
            <a:off x="1690255" y="4170218"/>
            <a:ext cx="1704109" cy="0"/>
          </a:xfrm>
          <a:prstGeom prst="straightConnector1">
            <a:avLst/>
          </a:prstGeom>
          <a:noFill/>
          <a:ln w="38100" cap="flat" cmpd="sng">
            <a:solidFill>
              <a:schemeClr val="dk1"/>
            </a:solidFill>
            <a:prstDash val="solid"/>
            <a:miter lim="800000"/>
            <a:headEnd type="none" w="sm" len="sm"/>
            <a:tailEnd type="triangle" w="med" len="med"/>
          </a:ln>
        </p:spPr>
      </p:cxnSp>
      <p:cxnSp>
        <p:nvCxnSpPr>
          <p:cNvPr id="340" name="Google Shape;340;p30"/>
          <p:cNvCxnSpPr/>
          <p:nvPr/>
        </p:nvCxnSpPr>
        <p:spPr>
          <a:xfrm rot="10800000">
            <a:off x="1690255" y="4447309"/>
            <a:ext cx="1704109" cy="0"/>
          </a:xfrm>
          <a:prstGeom prst="straightConnector1">
            <a:avLst/>
          </a:prstGeom>
          <a:noFill/>
          <a:ln w="38100" cap="flat" cmpd="sng">
            <a:solidFill>
              <a:schemeClr val="dk1"/>
            </a:solidFill>
            <a:prstDash val="solid"/>
            <a:miter lim="800000"/>
            <a:headEnd type="none" w="sm" len="sm"/>
            <a:tailEnd type="triangle" w="med" len="med"/>
          </a:ln>
        </p:spPr>
      </p:cxnSp>
      <p:cxnSp>
        <p:nvCxnSpPr>
          <p:cNvPr id="341" name="Google Shape;341;p30"/>
          <p:cNvCxnSpPr/>
          <p:nvPr/>
        </p:nvCxnSpPr>
        <p:spPr>
          <a:xfrm rot="10800000" flipH="1">
            <a:off x="2189018" y="4807527"/>
            <a:ext cx="13855" cy="1011382"/>
          </a:xfrm>
          <a:prstGeom prst="straightConnector1">
            <a:avLst/>
          </a:prstGeom>
          <a:noFill/>
          <a:ln w="38100" cap="flat" cmpd="sng">
            <a:solidFill>
              <a:schemeClr val="dk1"/>
            </a:solidFill>
            <a:prstDash val="solid"/>
            <a:miter lim="800000"/>
            <a:headEnd type="none" w="sm" len="sm"/>
            <a:tailEnd type="triangle" w="med" len="med"/>
          </a:ln>
        </p:spPr>
      </p:cxnSp>
      <p:cxnSp>
        <p:nvCxnSpPr>
          <p:cNvPr id="342" name="Google Shape;342;p30"/>
          <p:cNvCxnSpPr/>
          <p:nvPr/>
        </p:nvCxnSpPr>
        <p:spPr>
          <a:xfrm>
            <a:off x="2542309" y="4835237"/>
            <a:ext cx="0" cy="1011382"/>
          </a:xfrm>
          <a:prstGeom prst="straightConnector1">
            <a:avLst/>
          </a:prstGeom>
          <a:noFill/>
          <a:ln w="38100" cap="flat" cmpd="sng">
            <a:solidFill>
              <a:schemeClr val="dk1"/>
            </a:solidFill>
            <a:prstDash val="solid"/>
            <a:miter lim="800000"/>
            <a:headEnd type="none" w="sm" len="sm"/>
            <a:tailEnd type="triangle" w="med" len="med"/>
          </a:ln>
        </p:spPr>
      </p:cxnSp>
      <p:sp>
        <p:nvSpPr>
          <p:cNvPr id="343" name="Google Shape;343;p30"/>
          <p:cNvSpPr txBox="1"/>
          <p:nvPr/>
        </p:nvSpPr>
        <p:spPr>
          <a:xfrm>
            <a:off x="4488873" y="1773818"/>
            <a:ext cx="6068291"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a:solidFill>
                  <a:srgbClr val="0070C0"/>
                </a:solidFill>
                <a:latin typeface="Calibri"/>
                <a:ea typeface="Calibri"/>
                <a:cs typeface="Calibri"/>
                <a:sym typeface="Calibri"/>
              </a:rPr>
              <a:t>Terminal: </a:t>
            </a:r>
            <a:r>
              <a:rPr lang="en-US" sz="2800">
                <a:solidFill>
                  <a:schemeClr val="dk1"/>
                </a:solidFill>
                <a:latin typeface="Calibri"/>
                <a:ea typeface="Calibri"/>
                <a:cs typeface="Calibri"/>
                <a:sym typeface="Calibri"/>
              </a:rPr>
              <a:t>Indicates start or end of a program</a:t>
            </a:r>
            <a:endParaRPr sz="2800">
              <a:solidFill>
                <a:schemeClr val="dk1"/>
              </a:solidFill>
              <a:latin typeface="Calibri"/>
              <a:ea typeface="Calibri"/>
              <a:cs typeface="Calibri"/>
              <a:sym typeface="Calibri"/>
            </a:endParaRPr>
          </a:p>
        </p:txBody>
      </p:sp>
      <p:sp>
        <p:nvSpPr>
          <p:cNvPr id="344" name="Google Shape;344;p30"/>
          <p:cNvSpPr txBox="1"/>
          <p:nvPr/>
        </p:nvSpPr>
        <p:spPr>
          <a:xfrm>
            <a:off x="4641273" y="4142951"/>
            <a:ext cx="6068291"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a:solidFill>
                  <a:srgbClr val="0070C0"/>
                </a:solidFill>
                <a:latin typeface="Calibri"/>
                <a:ea typeface="Calibri"/>
                <a:cs typeface="Calibri"/>
                <a:sym typeface="Calibri"/>
              </a:rPr>
              <a:t>Flow Lines: </a:t>
            </a:r>
            <a:r>
              <a:rPr lang="en-US" sz="2800">
                <a:solidFill>
                  <a:schemeClr val="dk1"/>
                </a:solidFill>
                <a:latin typeface="Calibri"/>
                <a:ea typeface="Calibri"/>
                <a:cs typeface="Calibri"/>
                <a:sym typeface="Calibri"/>
              </a:rPr>
              <a:t>Arrows that indicate the direction of the progression of the program</a:t>
            </a:r>
            <a:endParaRPr sz="2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Rules for flowcharts</a:t>
            </a:r>
            <a:endParaRPr/>
          </a:p>
        </p:txBody>
      </p:sp>
      <p:sp>
        <p:nvSpPr>
          <p:cNvPr id="350" name="Google Shape;350;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All symbols of the flowchart are </a:t>
            </a:r>
            <a:r>
              <a:rPr lang="en-US" i="1">
                <a:solidFill>
                  <a:srgbClr val="0070C0"/>
                </a:solidFill>
              </a:rPr>
              <a:t>connected by flow lines </a:t>
            </a:r>
            <a:r>
              <a:rPr lang="en-US"/>
              <a:t>(note arrows, not lines)</a:t>
            </a:r>
            <a:endParaRPr/>
          </a:p>
          <a:p>
            <a:pPr marL="228600" lvl="0" indent="-228600" algn="l" rtl="0">
              <a:lnSpc>
                <a:spcPct val="90000"/>
              </a:lnSpc>
              <a:spcBef>
                <a:spcPts val="1000"/>
              </a:spcBef>
              <a:spcAft>
                <a:spcPts val="0"/>
              </a:spcAft>
              <a:buClr>
                <a:srgbClr val="0070C0"/>
              </a:buClr>
              <a:buSzPts val="2800"/>
              <a:buChar char="•"/>
            </a:pPr>
            <a:r>
              <a:rPr lang="en-US" i="1">
                <a:solidFill>
                  <a:srgbClr val="0070C0"/>
                </a:solidFill>
              </a:rPr>
              <a:t>Flow lines enter the top of the symbol and exit out the bottom</a:t>
            </a:r>
            <a:r>
              <a:rPr lang="en-US"/>
              <a:t>, except for the Decision symbol, which can have flow lines exiting from the bottom or the sides</a:t>
            </a:r>
            <a:endParaRPr/>
          </a:p>
          <a:p>
            <a:pPr marL="228600" lvl="0" indent="-228600" algn="l" rtl="0">
              <a:lnSpc>
                <a:spcPct val="90000"/>
              </a:lnSpc>
              <a:spcBef>
                <a:spcPts val="1000"/>
              </a:spcBef>
              <a:spcAft>
                <a:spcPts val="0"/>
              </a:spcAft>
              <a:buClr>
                <a:schemeClr val="dk1"/>
              </a:buClr>
              <a:buSzPts val="2800"/>
              <a:buChar char="•"/>
            </a:pPr>
            <a:r>
              <a:rPr lang="en-US"/>
              <a:t>Flowcharts are drawn so </a:t>
            </a:r>
            <a:r>
              <a:rPr lang="en-US" i="1">
                <a:solidFill>
                  <a:srgbClr val="0070C0"/>
                </a:solidFill>
              </a:rPr>
              <a:t>flow</a:t>
            </a:r>
            <a:r>
              <a:rPr lang="en-US"/>
              <a:t> generally goes </a:t>
            </a:r>
            <a:r>
              <a:rPr lang="en-US" i="1">
                <a:solidFill>
                  <a:srgbClr val="0070C0"/>
                </a:solidFill>
              </a:rPr>
              <a:t>from top to bottom</a:t>
            </a:r>
            <a:endParaRPr/>
          </a:p>
          <a:p>
            <a:pPr marL="228600" lvl="0" indent="-228600" algn="l" rtl="0">
              <a:lnSpc>
                <a:spcPct val="90000"/>
              </a:lnSpc>
              <a:spcBef>
                <a:spcPts val="1000"/>
              </a:spcBef>
              <a:spcAft>
                <a:spcPts val="0"/>
              </a:spcAft>
              <a:buClr>
                <a:schemeClr val="dk1"/>
              </a:buClr>
              <a:buSzPts val="2800"/>
              <a:buChar char="•"/>
            </a:pPr>
            <a:r>
              <a:rPr lang="en-US"/>
              <a:t>The </a:t>
            </a:r>
            <a:r>
              <a:rPr lang="en-US" i="1">
                <a:solidFill>
                  <a:srgbClr val="0070C0"/>
                </a:solidFill>
              </a:rPr>
              <a:t>beginning and the end</a:t>
            </a:r>
            <a:r>
              <a:rPr lang="en-US"/>
              <a:t> of the flowchart is </a:t>
            </a:r>
            <a:r>
              <a:rPr lang="en-US" i="1">
                <a:solidFill>
                  <a:srgbClr val="0070C0"/>
                </a:solidFill>
              </a:rPr>
              <a:t>indicated using </a:t>
            </a:r>
            <a:r>
              <a:rPr lang="en-US"/>
              <a:t>the </a:t>
            </a:r>
            <a:r>
              <a:rPr lang="en-US" i="1">
                <a:solidFill>
                  <a:srgbClr val="0070C0"/>
                </a:solidFill>
              </a:rPr>
              <a:t>Terminal symbol</a:t>
            </a:r>
            <a:endParaRPr/>
          </a:p>
        </p:txBody>
      </p:sp>
      <p:sp>
        <p:nvSpPr>
          <p:cNvPr id="351" name="Google Shape;35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52" name="Google Shape;35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Sequence Control Structure</a:t>
            </a:r>
            <a:endParaRPr>
              <a:solidFill>
                <a:srgbClr val="0070C0"/>
              </a:solidFill>
            </a:endParaRPr>
          </a:p>
        </p:txBody>
      </p:sp>
      <p:sp>
        <p:nvSpPr>
          <p:cNvPr id="358" name="Google Shape;358;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359" name="Google Shape;35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60" name="Google Shape;36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pic>
        <p:nvPicPr>
          <p:cNvPr id="361" name="Google Shape;361;p32"/>
          <p:cNvPicPr preferRelativeResize="0"/>
          <p:nvPr/>
        </p:nvPicPr>
        <p:blipFill rotWithShape="1">
          <a:blip r:embed="rId3">
            <a:alphaModFix/>
          </a:blip>
          <a:srcRect/>
          <a:stretch/>
        </p:blipFill>
        <p:spPr>
          <a:xfrm>
            <a:off x="4138612" y="1716672"/>
            <a:ext cx="3914775" cy="42005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IF Selection Control Structure</a:t>
            </a:r>
            <a:endParaRPr>
              <a:solidFill>
                <a:srgbClr val="0070C0"/>
              </a:solidFill>
            </a:endParaRPr>
          </a:p>
        </p:txBody>
      </p:sp>
      <p:sp>
        <p:nvSpPr>
          <p:cNvPr id="367" name="Google Shape;367;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368" name="Google Shape;36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69" name="Google Shape;369;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pic>
        <p:nvPicPr>
          <p:cNvPr id="370" name="Google Shape;370;p33"/>
          <p:cNvPicPr preferRelativeResize="0"/>
          <p:nvPr/>
        </p:nvPicPr>
        <p:blipFill rotWithShape="1">
          <a:blip r:embed="rId3">
            <a:alphaModFix/>
          </a:blip>
          <a:srcRect/>
          <a:stretch/>
        </p:blipFill>
        <p:spPr>
          <a:xfrm>
            <a:off x="4557712" y="1838323"/>
            <a:ext cx="3076575" cy="40957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IF-ELSE Selection Control Structure</a:t>
            </a:r>
            <a:endParaRPr/>
          </a:p>
        </p:txBody>
      </p:sp>
      <p:sp>
        <p:nvSpPr>
          <p:cNvPr id="376" name="Google Shape;376;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377" name="Google Shape;37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78" name="Google Shape;37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pic>
        <p:nvPicPr>
          <p:cNvPr id="379" name="Google Shape;379;p34"/>
          <p:cNvPicPr preferRelativeResize="0"/>
          <p:nvPr/>
        </p:nvPicPr>
        <p:blipFill rotWithShape="1">
          <a:blip r:embed="rId3">
            <a:alphaModFix/>
          </a:blip>
          <a:srcRect/>
          <a:stretch/>
        </p:blipFill>
        <p:spPr>
          <a:xfrm>
            <a:off x="3571875" y="1815373"/>
            <a:ext cx="5048250" cy="436159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Nested IF-ELSE Selection Control Structure </a:t>
            </a:r>
            <a:endParaRPr/>
          </a:p>
        </p:txBody>
      </p:sp>
      <p:sp>
        <p:nvSpPr>
          <p:cNvPr id="385" name="Google Shape;385;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386" name="Google Shape;38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87" name="Google Shape;38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pic>
        <p:nvPicPr>
          <p:cNvPr id="388" name="Google Shape;388;p35"/>
          <p:cNvPicPr preferRelativeResize="0"/>
          <p:nvPr/>
        </p:nvPicPr>
        <p:blipFill rotWithShape="1">
          <a:blip r:embed="rId3">
            <a:alphaModFix/>
          </a:blip>
          <a:srcRect/>
          <a:stretch/>
        </p:blipFill>
        <p:spPr>
          <a:xfrm>
            <a:off x="3852862" y="1825625"/>
            <a:ext cx="4486275" cy="48958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IF-ELSE-IF Selection Control Structure</a:t>
            </a:r>
            <a:endParaRPr/>
          </a:p>
        </p:txBody>
      </p:sp>
      <p:sp>
        <p:nvSpPr>
          <p:cNvPr id="394" name="Google Shape;394;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395" name="Google Shape;395;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396" name="Google Shape;396;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pic>
        <p:nvPicPr>
          <p:cNvPr id="397" name="Google Shape;397;p36"/>
          <p:cNvPicPr preferRelativeResize="0"/>
          <p:nvPr/>
        </p:nvPicPr>
        <p:blipFill rotWithShape="1">
          <a:blip r:embed="rId3">
            <a:alphaModFix/>
          </a:blip>
          <a:srcRect/>
          <a:stretch/>
        </p:blipFill>
        <p:spPr>
          <a:xfrm>
            <a:off x="3666267" y="1385459"/>
            <a:ext cx="6438900" cy="519242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SWITCH Control Structure</a:t>
            </a:r>
            <a:endParaRPr/>
          </a:p>
        </p:txBody>
      </p:sp>
      <p:sp>
        <p:nvSpPr>
          <p:cNvPr id="403" name="Google Shape;403;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404" name="Google Shape;404;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405" name="Google Shape;405;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pic>
        <p:nvPicPr>
          <p:cNvPr id="406" name="Google Shape;406;p37"/>
          <p:cNvPicPr preferRelativeResize="0"/>
          <p:nvPr/>
        </p:nvPicPr>
        <p:blipFill rotWithShape="1">
          <a:blip r:embed="rId3">
            <a:alphaModFix/>
          </a:blip>
          <a:srcRect/>
          <a:stretch/>
        </p:blipFill>
        <p:spPr>
          <a:xfrm>
            <a:off x="4071937" y="1357737"/>
            <a:ext cx="4048125" cy="536373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WHILE Repetition Control Structure</a:t>
            </a:r>
            <a:endParaRPr/>
          </a:p>
        </p:txBody>
      </p:sp>
      <p:sp>
        <p:nvSpPr>
          <p:cNvPr id="412" name="Google Shape;412;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413" name="Google Shape;4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414" name="Google Shape;4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pic>
        <p:nvPicPr>
          <p:cNvPr id="415" name="Google Shape;415;p38"/>
          <p:cNvPicPr preferRelativeResize="0"/>
          <p:nvPr/>
        </p:nvPicPr>
        <p:blipFill rotWithShape="1">
          <a:blip r:embed="rId3">
            <a:alphaModFix/>
          </a:blip>
          <a:srcRect/>
          <a:stretch/>
        </p:blipFill>
        <p:spPr>
          <a:xfrm>
            <a:off x="4367212" y="1624000"/>
            <a:ext cx="3457575" cy="45243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DO-WHILE Repetition Control Structure</a:t>
            </a:r>
            <a:endParaRPr/>
          </a:p>
        </p:txBody>
      </p:sp>
      <p:sp>
        <p:nvSpPr>
          <p:cNvPr id="421" name="Google Shape;421;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422" name="Google Shape;42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423" name="Google Shape;42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pic>
        <p:nvPicPr>
          <p:cNvPr id="424" name="Google Shape;424;p39"/>
          <p:cNvPicPr preferRelativeResize="0"/>
          <p:nvPr/>
        </p:nvPicPr>
        <p:blipFill rotWithShape="1">
          <a:blip r:embed="rId3">
            <a:alphaModFix/>
          </a:blip>
          <a:srcRect/>
          <a:stretch/>
        </p:blipFill>
        <p:spPr>
          <a:xfrm>
            <a:off x="3999195" y="1752594"/>
            <a:ext cx="3667125" cy="44100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for FOR Repetition Control Structure</a:t>
            </a:r>
            <a:endParaRPr/>
          </a:p>
        </p:txBody>
      </p:sp>
      <p:sp>
        <p:nvSpPr>
          <p:cNvPr id="430" name="Google Shape;430;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431" name="Google Shape;431;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432" name="Google Shape;43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pic>
        <p:nvPicPr>
          <p:cNvPr id="433" name="Google Shape;433;p40"/>
          <p:cNvPicPr preferRelativeResize="0"/>
          <p:nvPr/>
        </p:nvPicPr>
        <p:blipFill rotWithShape="1">
          <a:blip r:embed="rId3">
            <a:alphaModFix/>
          </a:blip>
          <a:srcRect/>
          <a:stretch/>
        </p:blipFill>
        <p:spPr>
          <a:xfrm>
            <a:off x="3976687" y="1053388"/>
            <a:ext cx="4238625" cy="559680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Flow Chart Example</a:t>
            </a:r>
            <a:endParaRPr>
              <a:solidFill>
                <a:srgbClr val="0070C0"/>
              </a:solidFill>
            </a:endParaRPr>
          </a:p>
        </p:txBody>
      </p:sp>
      <p:sp>
        <p:nvSpPr>
          <p:cNvPr id="439" name="Google Shape;43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440" name="Google Shape;44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
        <p:nvSpPr>
          <p:cNvPr id="441" name="Google Shape;441;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442" name="Google Shape;442;p41"/>
          <p:cNvPicPr preferRelativeResize="0"/>
          <p:nvPr/>
        </p:nvPicPr>
        <p:blipFill rotWithShape="1">
          <a:blip r:embed="rId3">
            <a:alphaModFix/>
          </a:blip>
          <a:srcRect/>
          <a:stretch/>
        </p:blipFill>
        <p:spPr>
          <a:xfrm>
            <a:off x="2840182" y="1646238"/>
            <a:ext cx="5514109" cy="471011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a:solidFill>
                  <a:srgbClr val="0070C0"/>
                </a:solidFill>
              </a:rPr>
              <a:t>Activity</a:t>
            </a:r>
            <a:endParaRPr>
              <a:solidFill>
                <a:srgbClr val="0070C0"/>
              </a:solidFill>
            </a:endParaRPr>
          </a:p>
        </p:txBody>
      </p:sp>
      <p:sp>
        <p:nvSpPr>
          <p:cNvPr id="448" name="Google Shape;448;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Write an Algorithm, Pseudocode and draw flowchart for the below scenarios;</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Whether to open an umbrella if it is raining</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For a robot with a touch sensor to move until it touches an object then stops</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To tell how to read a flow chart</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To print Fibonacci series up to given number N</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To convert a binary number to hex number</a:t>
            </a:r>
            <a:endParaRPr dirty="0"/>
          </a:p>
        </p:txBody>
      </p:sp>
      <p:sp>
        <p:nvSpPr>
          <p:cNvPr id="449" name="Google Shape;449;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Shahid Zulfikar Ali Bhutto Institute of Science &amp; Technology</a:t>
            </a:r>
            <a:endParaRPr/>
          </a:p>
        </p:txBody>
      </p:sp>
      <p:sp>
        <p:nvSpPr>
          <p:cNvPr id="450" name="Google Shape;45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2572</Words>
  <Application>Microsoft Office PowerPoint</Application>
  <PresentationFormat>Widescreen</PresentationFormat>
  <Paragraphs>373</Paragraphs>
  <Slides>54</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Wingdings</vt:lpstr>
      <vt:lpstr>Consolas</vt:lpstr>
      <vt:lpstr>Arial</vt:lpstr>
      <vt:lpstr>Calibri</vt:lpstr>
      <vt:lpstr>Bodoni</vt:lpstr>
      <vt:lpstr>Courier New</vt:lpstr>
      <vt:lpstr>Office Theme</vt:lpstr>
      <vt:lpstr>Introduction to Computing CSC 1108</vt:lpstr>
      <vt:lpstr>Recap</vt:lpstr>
      <vt:lpstr>Content</vt:lpstr>
      <vt:lpstr>HTML Attributes</vt:lpstr>
      <vt:lpstr>HTML Styling</vt:lpstr>
      <vt:lpstr>HTML Styling</vt:lpstr>
      <vt:lpstr>HTML Styling</vt:lpstr>
      <vt:lpstr>HTML Styling</vt:lpstr>
      <vt:lpstr>Tables</vt:lpstr>
      <vt:lpstr>Table Div Elements</vt:lpstr>
      <vt:lpstr>PowerPoint Presentation</vt:lpstr>
      <vt:lpstr>PowerPoint Presentation</vt:lpstr>
      <vt:lpstr>Assignment</vt:lpstr>
      <vt:lpstr>Logic Building</vt:lpstr>
      <vt:lpstr>Program Development Life Cycle (PDLC)</vt:lpstr>
      <vt:lpstr>PDLC Phases</vt:lpstr>
      <vt:lpstr>PDLC Phases</vt:lpstr>
      <vt:lpstr>PDLC Phases</vt:lpstr>
      <vt:lpstr>Algorithm</vt:lpstr>
      <vt:lpstr>Significance of Algorithms </vt:lpstr>
      <vt:lpstr>Writing algorithm…</vt:lpstr>
      <vt:lpstr>Control Structures</vt:lpstr>
      <vt:lpstr>Sequence Control Structure</vt:lpstr>
      <vt:lpstr>Selection Control Structure</vt:lpstr>
      <vt:lpstr>IF Selection Control Structure</vt:lpstr>
      <vt:lpstr>IF Selection Control Structure</vt:lpstr>
      <vt:lpstr>IF-ELSE Selection Control Structure</vt:lpstr>
      <vt:lpstr>IF-ELSE Selection Control Structure</vt:lpstr>
      <vt:lpstr>Nested IF-ELSE Statements</vt:lpstr>
      <vt:lpstr>IF - ELSE - IF Statement (if-else ladder)</vt:lpstr>
      <vt:lpstr>SWITCH Statement</vt:lpstr>
      <vt:lpstr>SWITCH Statement</vt:lpstr>
      <vt:lpstr>Repetition Control Structure</vt:lpstr>
      <vt:lpstr>WHILE Repetition Control Structure</vt:lpstr>
      <vt:lpstr>DO-WHILE Repetition Control Structure</vt:lpstr>
      <vt:lpstr>FOR Repetition Control Structure</vt:lpstr>
      <vt:lpstr>Algorithm Example</vt:lpstr>
      <vt:lpstr>Flowcharts</vt:lpstr>
      <vt:lpstr>Flowcharts</vt:lpstr>
      <vt:lpstr>Symbols for Flowcharts</vt:lpstr>
      <vt:lpstr>Symbols for Flowcharts</vt:lpstr>
      <vt:lpstr>Symbols for Flowcharts</vt:lpstr>
      <vt:lpstr>Rules for flowcharts</vt:lpstr>
      <vt:lpstr>Flow Chart for Sequence Control Structure</vt:lpstr>
      <vt:lpstr>Flow Chart for IF Selection Control Structure</vt:lpstr>
      <vt:lpstr>Flow Chart for IF-ELSE Selection Control Structure</vt:lpstr>
      <vt:lpstr>Flow Chart for Nested IF-ELSE Selection Control Structure </vt:lpstr>
      <vt:lpstr>Flow Chart for IF-ELSE-IF Selection Control Structure</vt:lpstr>
      <vt:lpstr>Flow Chart for SWITCH Control Structure</vt:lpstr>
      <vt:lpstr>Flow Chart for WHILE Repetition Control Structure</vt:lpstr>
      <vt:lpstr>Flow Chart for DO-WHILE Repetition Control Structure</vt:lpstr>
      <vt:lpstr>Flow Chart for FOR Repetition Control Structure</vt:lpstr>
      <vt:lpstr>Flow Chart Example</vt:lpstr>
      <vt:lpstr>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Naila Shah ( Lecturer )</dc:creator>
  <cp:lastModifiedBy>Sheikh Usama Khalid</cp:lastModifiedBy>
  <cp:revision>11</cp:revision>
  <dcterms:created xsi:type="dcterms:W3CDTF">2017-09-26T08:33:39Z</dcterms:created>
  <dcterms:modified xsi:type="dcterms:W3CDTF">2025-10-06T19:51:16Z</dcterms:modified>
</cp:coreProperties>
</file>